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4" r:id="rId5"/>
    <p:sldId id="259" r:id="rId6"/>
    <p:sldId id="260" r:id="rId7"/>
    <p:sldId id="271" r:id="rId8"/>
    <p:sldId id="272" r:id="rId9"/>
    <p:sldId id="266" r:id="rId10"/>
    <p:sldId id="267" r:id="rId11"/>
    <p:sldId id="285" r:id="rId12"/>
    <p:sldId id="268" r:id="rId13"/>
    <p:sldId id="283" r:id="rId14"/>
    <p:sldId id="288" r:id="rId15"/>
    <p:sldId id="273" r:id="rId16"/>
    <p:sldId id="274" r:id="rId17"/>
    <p:sldId id="275" r:id="rId18"/>
    <p:sldId id="286" r:id="rId19"/>
    <p:sldId id="277" r:id="rId20"/>
    <p:sldId id="287" r:id="rId21"/>
    <p:sldId id="281" r:id="rId22"/>
    <p:sldId id="282" r:id="rId23"/>
    <p:sldId id="280" r:id="rId24"/>
    <p:sldId id="263" r:id="rId25"/>
    <p:sldId id="289" r:id="rId26"/>
    <p:sldId id="29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C2AB92-F38A-D043-8EF1-8DE8EB2867DF}" type="doc">
      <dgm:prSet loTypeId="urn:microsoft.com/office/officeart/2005/8/layout/orgChart1" loCatId="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C95CA2F0-D84A-8849-BE84-E8858F236180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2800" b="1" i="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Deviation Impacts</a:t>
          </a:r>
        </a:p>
      </dgm:t>
    </dgm:pt>
    <dgm:pt modelId="{01696AF9-D0A3-D249-921E-E3FB57A9DAB4}" type="parTrans" cxnId="{A34CD88F-5994-AB43-8B48-E526EC4A1BC1}">
      <dgm:prSet/>
      <dgm:spPr/>
      <dgm:t>
        <a:bodyPr/>
        <a:lstStyle/>
        <a:p>
          <a:endParaRPr lang="en-US"/>
        </a:p>
      </dgm:t>
    </dgm:pt>
    <dgm:pt modelId="{69A17BC4-C157-724F-B984-8B4219A88B69}" type="sibTrans" cxnId="{A34CD88F-5994-AB43-8B48-E526EC4A1BC1}">
      <dgm:prSet/>
      <dgm:spPr/>
      <dgm:t>
        <a:bodyPr/>
        <a:lstStyle/>
        <a:p>
          <a:endParaRPr lang="en-US"/>
        </a:p>
      </dgm:t>
    </dgm:pt>
    <dgm:pt modelId="{7EDC375A-7D5F-5C49-82FD-DDBF09DA15BF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2800" b="1" i="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Deviating Mitigations</a:t>
          </a:r>
        </a:p>
      </dgm:t>
    </dgm:pt>
    <dgm:pt modelId="{B63E5FCE-BE77-604B-BC62-B55EF7D54397}" type="parTrans" cxnId="{72041A66-CF15-F84C-AC4A-B8A347EE1539}">
      <dgm:prSet/>
      <dgm:spPr/>
      <dgm:t>
        <a:bodyPr/>
        <a:lstStyle/>
        <a:p>
          <a:endParaRPr lang="en-US"/>
        </a:p>
      </dgm:t>
    </dgm:pt>
    <dgm:pt modelId="{E76694D3-B266-DB43-B824-9B7FFAE46718}" type="sibTrans" cxnId="{72041A66-CF15-F84C-AC4A-B8A347EE1539}">
      <dgm:prSet/>
      <dgm:spPr/>
      <dgm:t>
        <a:bodyPr/>
        <a:lstStyle/>
        <a:p>
          <a:endParaRPr lang="en-US"/>
        </a:p>
      </dgm:t>
    </dgm:pt>
    <dgm:pt modelId="{438E0BF3-AA92-434B-9FAA-78058C360696}">
      <dgm:prSet phldrT="[Text]"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sz="2800" b="1" i="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Deviation Causes</a:t>
          </a:r>
        </a:p>
      </dgm:t>
    </dgm:pt>
    <dgm:pt modelId="{27BFE031-B234-3242-8F5B-782336DB38D3}" type="sibTrans" cxnId="{E1B5EB3B-DA3E-2E46-A821-2533A8C610C9}">
      <dgm:prSet/>
      <dgm:spPr/>
      <dgm:t>
        <a:bodyPr/>
        <a:lstStyle/>
        <a:p>
          <a:endParaRPr lang="en-US"/>
        </a:p>
      </dgm:t>
    </dgm:pt>
    <dgm:pt modelId="{17CBD469-1D42-1940-A266-16E32A3D14B4}" type="parTrans" cxnId="{E1B5EB3B-DA3E-2E46-A821-2533A8C610C9}">
      <dgm:prSet/>
      <dgm:spPr/>
      <dgm:t>
        <a:bodyPr/>
        <a:lstStyle/>
        <a:p>
          <a:endParaRPr lang="en-US"/>
        </a:p>
      </dgm:t>
    </dgm:pt>
    <dgm:pt modelId="{63F7BB33-DDA3-E042-AB37-77FF22E7BC15}">
      <dgm:prSet phldrT="[Text]" custT="1"/>
      <dgm:spPr>
        <a:solidFill>
          <a:schemeClr val="bg2">
            <a:lumMod val="90000"/>
          </a:schemeClr>
        </a:solidFill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r>
            <a:rPr lang="en-US" sz="2800" b="1" i="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Presentation Outline</a:t>
          </a:r>
          <a:endParaRPr lang="en-US" sz="2800" dirty="0">
            <a:solidFill>
              <a:schemeClr val="tx1"/>
            </a:solidFill>
          </a:endParaRPr>
        </a:p>
      </dgm:t>
    </dgm:pt>
    <dgm:pt modelId="{4427E3B2-69E8-5747-B6BE-949285E75F6B}" type="sibTrans" cxnId="{96045607-DF48-1D4B-A47F-4F5116AA5087}">
      <dgm:prSet/>
      <dgm:spPr/>
      <dgm:t>
        <a:bodyPr/>
        <a:lstStyle/>
        <a:p>
          <a:endParaRPr lang="en-US"/>
        </a:p>
      </dgm:t>
    </dgm:pt>
    <dgm:pt modelId="{1C3C3594-84BD-1A48-8E85-4D61C488B76E}" type="parTrans" cxnId="{96045607-DF48-1D4B-A47F-4F5116AA5087}">
      <dgm:prSet/>
      <dgm:spPr/>
      <dgm:t>
        <a:bodyPr/>
        <a:lstStyle/>
        <a:p>
          <a:endParaRPr lang="en-US"/>
        </a:p>
      </dgm:t>
    </dgm:pt>
    <dgm:pt modelId="{F736D124-1029-BE4E-BD44-052D3FFFE9BA}" type="pres">
      <dgm:prSet presAssocID="{87C2AB92-F38A-D043-8EF1-8DE8EB2867D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36A5964-3AF5-DD47-8D02-B9A9D8B46D95}" type="pres">
      <dgm:prSet presAssocID="{63F7BB33-DDA3-E042-AB37-77FF22E7BC15}" presName="hierRoot1" presStyleCnt="0">
        <dgm:presLayoutVars>
          <dgm:hierBranch val="init"/>
        </dgm:presLayoutVars>
      </dgm:prSet>
      <dgm:spPr/>
    </dgm:pt>
    <dgm:pt modelId="{4038571F-ABED-1A48-AFBD-BA38B3413E2E}" type="pres">
      <dgm:prSet presAssocID="{63F7BB33-DDA3-E042-AB37-77FF22E7BC15}" presName="rootComposite1" presStyleCnt="0"/>
      <dgm:spPr/>
    </dgm:pt>
    <dgm:pt modelId="{4526622F-3FDC-374A-B9B6-FA94C4E60A16}" type="pres">
      <dgm:prSet presAssocID="{63F7BB33-DDA3-E042-AB37-77FF22E7BC15}" presName="rootText1" presStyleLbl="node0" presStyleIdx="0" presStyleCnt="1" custLinFactNeighborX="513" custLinFactNeighborY="-39577">
        <dgm:presLayoutVars>
          <dgm:chPref val="3"/>
        </dgm:presLayoutVars>
      </dgm:prSet>
      <dgm:spPr/>
    </dgm:pt>
    <dgm:pt modelId="{25B93E6D-CBFF-9A4E-9942-963456519F4E}" type="pres">
      <dgm:prSet presAssocID="{63F7BB33-DDA3-E042-AB37-77FF22E7BC15}" presName="rootConnector1" presStyleLbl="node1" presStyleIdx="0" presStyleCnt="0"/>
      <dgm:spPr/>
    </dgm:pt>
    <dgm:pt modelId="{76574CC6-9DCF-7846-ACF8-2D8613A327A4}" type="pres">
      <dgm:prSet presAssocID="{63F7BB33-DDA3-E042-AB37-77FF22E7BC15}" presName="hierChild2" presStyleCnt="0"/>
      <dgm:spPr/>
    </dgm:pt>
    <dgm:pt modelId="{32D27F38-64D2-D145-9C37-1C772EF17BAD}" type="pres">
      <dgm:prSet presAssocID="{17CBD469-1D42-1940-A266-16E32A3D14B4}" presName="Name37" presStyleLbl="parChTrans1D2" presStyleIdx="0" presStyleCnt="3"/>
      <dgm:spPr/>
    </dgm:pt>
    <dgm:pt modelId="{B3FFD7FF-CEDE-B340-A8A9-5B4A816DA555}" type="pres">
      <dgm:prSet presAssocID="{438E0BF3-AA92-434B-9FAA-78058C360696}" presName="hierRoot2" presStyleCnt="0">
        <dgm:presLayoutVars>
          <dgm:hierBranch val="init"/>
        </dgm:presLayoutVars>
      </dgm:prSet>
      <dgm:spPr/>
    </dgm:pt>
    <dgm:pt modelId="{E4B6C345-C32A-4449-AB72-1E23751DD118}" type="pres">
      <dgm:prSet presAssocID="{438E0BF3-AA92-434B-9FAA-78058C360696}" presName="rootComposite" presStyleCnt="0"/>
      <dgm:spPr/>
    </dgm:pt>
    <dgm:pt modelId="{DDF6D8D3-BD32-794F-9E9E-71634CC3F050}" type="pres">
      <dgm:prSet presAssocID="{438E0BF3-AA92-434B-9FAA-78058C360696}" presName="rootText" presStyleLbl="node2" presStyleIdx="0" presStyleCnt="3">
        <dgm:presLayoutVars>
          <dgm:chPref val="3"/>
        </dgm:presLayoutVars>
      </dgm:prSet>
      <dgm:spPr/>
    </dgm:pt>
    <dgm:pt modelId="{21C6FC21-A5C3-A146-BC26-081A5525D315}" type="pres">
      <dgm:prSet presAssocID="{438E0BF3-AA92-434B-9FAA-78058C360696}" presName="rootConnector" presStyleLbl="node2" presStyleIdx="0" presStyleCnt="3"/>
      <dgm:spPr/>
    </dgm:pt>
    <dgm:pt modelId="{6CA138F3-13FC-9141-8B3A-D7EEC3720617}" type="pres">
      <dgm:prSet presAssocID="{438E0BF3-AA92-434B-9FAA-78058C360696}" presName="hierChild4" presStyleCnt="0"/>
      <dgm:spPr/>
    </dgm:pt>
    <dgm:pt modelId="{E5C29C9F-4400-FD49-BCE9-B9E6157FB7B9}" type="pres">
      <dgm:prSet presAssocID="{438E0BF3-AA92-434B-9FAA-78058C360696}" presName="hierChild5" presStyleCnt="0"/>
      <dgm:spPr/>
    </dgm:pt>
    <dgm:pt modelId="{875F74BF-AC41-924C-8904-6225BF2F6523}" type="pres">
      <dgm:prSet presAssocID="{01696AF9-D0A3-D249-921E-E3FB57A9DAB4}" presName="Name37" presStyleLbl="parChTrans1D2" presStyleIdx="1" presStyleCnt="3"/>
      <dgm:spPr/>
    </dgm:pt>
    <dgm:pt modelId="{CC14A4F8-4B4D-2C4D-A317-32B94691F4A1}" type="pres">
      <dgm:prSet presAssocID="{C95CA2F0-D84A-8849-BE84-E8858F236180}" presName="hierRoot2" presStyleCnt="0">
        <dgm:presLayoutVars>
          <dgm:hierBranch val="init"/>
        </dgm:presLayoutVars>
      </dgm:prSet>
      <dgm:spPr/>
    </dgm:pt>
    <dgm:pt modelId="{0013B9C0-EAE8-244A-B4BC-5DDFA47779C0}" type="pres">
      <dgm:prSet presAssocID="{C95CA2F0-D84A-8849-BE84-E8858F236180}" presName="rootComposite" presStyleCnt="0"/>
      <dgm:spPr/>
    </dgm:pt>
    <dgm:pt modelId="{7E1A7E54-AD31-C74C-9BAB-1F97789182CF}" type="pres">
      <dgm:prSet presAssocID="{C95CA2F0-D84A-8849-BE84-E8858F236180}" presName="rootText" presStyleLbl="node2" presStyleIdx="1" presStyleCnt="3">
        <dgm:presLayoutVars>
          <dgm:chPref val="3"/>
        </dgm:presLayoutVars>
      </dgm:prSet>
      <dgm:spPr/>
    </dgm:pt>
    <dgm:pt modelId="{1998EAAD-5D19-654D-9E2A-11F6F10D27A0}" type="pres">
      <dgm:prSet presAssocID="{C95CA2F0-D84A-8849-BE84-E8858F236180}" presName="rootConnector" presStyleLbl="node2" presStyleIdx="1" presStyleCnt="3"/>
      <dgm:spPr/>
    </dgm:pt>
    <dgm:pt modelId="{CD8EF666-F25F-3947-90D6-29060146B412}" type="pres">
      <dgm:prSet presAssocID="{C95CA2F0-D84A-8849-BE84-E8858F236180}" presName="hierChild4" presStyleCnt="0"/>
      <dgm:spPr/>
    </dgm:pt>
    <dgm:pt modelId="{EFBAE59D-3D87-1B45-A1BB-4BD8E09AB6B0}" type="pres">
      <dgm:prSet presAssocID="{C95CA2F0-D84A-8849-BE84-E8858F236180}" presName="hierChild5" presStyleCnt="0"/>
      <dgm:spPr/>
    </dgm:pt>
    <dgm:pt modelId="{C07424E2-0D15-C348-8879-A61801054E0C}" type="pres">
      <dgm:prSet presAssocID="{B63E5FCE-BE77-604B-BC62-B55EF7D54397}" presName="Name37" presStyleLbl="parChTrans1D2" presStyleIdx="2" presStyleCnt="3"/>
      <dgm:spPr/>
    </dgm:pt>
    <dgm:pt modelId="{2BA84D12-D7C6-5F42-979F-0E80C8A7BC85}" type="pres">
      <dgm:prSet presAssocID="{7EDC375A-7D5F-5C49-82FD-DDBF09DA15BF}" presName="hierRoot2" presStyleCnt="0">
        <dgm:presLayoutVars>
          <dgm:hierBranch val="init"/>
        </dgm:presLayoutVars>
      </dgm:prSet>
      <dgm:spPr/>
    </dgm:pt>
    <dgm:pt modelId="{7571CEE6-E711-DD41-B5A8-0F9CF3D1AE6F}" type="pres">
      <dgm:prSet presAssocID="{7EDC375A-7D5F-5C49-82FD-DDBF09DA15BF}" presName="rootComposite" presStyleCnt="0"/>
      <dgm:spPr/>
    </dgm:pt>
    <dgm:pt modelId="{21AA42B4-B359-C44B-82F7-CE99C0525937}" type="pres">
      <dgm:prSet presAssocID="{7EDC375A-7D5F-5C49-82FD-DDBF09DA15BF}" presName="rootText" presStyleLbl="node2" presStyleIdx="2" presStyleCnt="3">
        <dgm:presLayoutVars>
          <dgm:chPref val="3"/>
        </dgm:presLayoutVars>
      </dgm:prSet>
      <dgm:spPr/>
    </dgm:pt>
    <dgm:pt modelId="{D1C31D30-A68E-6F42-8779-6124EE87ED02}" type="pres">
      <dgm:prSet presAssocID="{7EDC375A-7D5F-5C49-82FD-DDBF09DA15BF}" presName="rootConnector" presStyleLbl="node2" presStyleIdx="2" presStyleCnt="3"/>
      <dgm:spPr/>
    </dgm:pt>
    <dgm:pt modelId="{26D29226-4170-2F41-8C7E-F65A970485C9}" type="pres">
      <dgm:prSet presAssocID="{7EDC375A-7D5F-5C49-82FD-DDBF09DA15BF}" presName="hierChild4" presStyleCnt="0"/>
      <dgm:spPr/>
    </dgm:pt>
    <dgm:pt modelId="{30E7A0DC-8AE9-D14D-9EE4-BFC0DF879CC0}" type="pres">
      <dgm:prSet presAssocID="{7EDC375A-7D5F-5C49-82FD-DDBF09DA15BF}" presName="hierChild5" presStyleCnt="0"/>
      <dgm:spPr/>
    </dgm:pt>
    <dgm:pt modelId="{14343DB5-8D5B-A247-B940-D9EC8FE3CE64}" type="pres">
      <dgm:prSet presAssocID="{63F7BB33-DDA3-E042-AB37-77FF22E7BC15}" presName="hierChild3" presStyleCnt="0"/>
      <dgm:spPr/>
    </dgm:pt>
  </dgm:ptLst>
  <dgm:cxnLst>
    <dgm:cxn modelId="{96045607-DF48-1D4B-A47F-4F5116AA5087}" srcId="{87C2AB92-F38A-D043-8EF1-8DE8EB2867DF}" destId="{63F7BB33-DDA3-E042-AB37-77FF22E7BC15}" srcOrd="0" destOrd="0" parTransId="{1C3C3594-84BD-1A48-8E85-4D61C488B76E}" sibTransId="{4427E3B2-69E8-5747-B6BE-949285E75F6B}"/>
    <dgm:cxn modelId="{CD88620D-DBB0-CF41-A9F5-B28CFD2CA5A3}" type="presOf" srcId="{438E0BF3-AA92-434B-9FAA-78058C360696}" destId="{DDF6D8D3-BD32-794F-9E9E-71634CC3F050}" srcOrd="0" destOrd="0" presId="urn:microsoft.com/office/officeart/2005/8/layout/orgChart1"/>
    <dgm:cxn modelId="{6EE29715-7E17-794C-940A-F33BE05F65C0}" type="presOf" srcId="{63F7BB33-DDA3-E042-AB37-77FF22E7BC15}" destId="{4526622F-3FDC-374A-B9B6-FA94C4E60A16}" srcOrd="0" destOrd="0" presId="urn:microsoft.com/office/officeart/2005/8/layout/orgChart1"/>
    <dgm:cxn modelId="{B656B818-5904-B245-802D-6A97150DF05B}" type="presOf" srcId="{7EDC375A-7D5F-5C49-82FD-DDBF09DA15BF}" destId="{D1C31D30-A68E-6F42-8779-6124EE87ED02}" srcOrd="1" destOrd="0" presId="urn:microsoft.com/office/officeart/2005/8/layout/orgChart1"/>
    <dgm:cxn modelId="{E2DB3F1D-A1AA-3842-BE44-5E65259EC4E0}" type="presOf" srcId="{438E0BF3-AA92-434B-9FAA-78058C360696}" destId="{21C6FC21-A5C3-A146-BC26-081A5525D315}" srcOrd="1" destOrd="0" presId="urn:microsoft.com/office/officeart/2005/8/layout/orgChart1"/>
    <dgm:cxn modelId="{E1B5EB3B-DA3E-2E46-A821-2533A8C610C9}" srcId="{63F7BB33-DDA3-E042-AB37-77FF22E7BC15}" destId="{438E0BF3-AA92-434B-9FAA-78058C360696}" srcOrd="0" destOrd="0" parTransId="{17CBD469-1D42-1940-A266-16E32A3D14B4}" sibTransId="{27BFE031-B234-3242-8F5B-782336DB38D3}"/>
    <dgm:cxn modelId="{6956FA3F-B4B0-7E41-8FED-9F180170A089}" type="presOf" srcId="{01696AF9-D0A3-D249-921E-E3FB57A9DAB4}" destId="{875F74BF-AC41-924C-8904-6225BF2F6523}" srcOrd="0" destOrd="0" presId="urn:microsoft.com/office/officeart/2005/8/layout/orgChart1"/>
    <dgm:cxn modelId="{4FABB445-1614-4D49-B344-6C13A61319E5}" type="presOf" srcId="{17CBD469-1D42-1940-A266-16E32A3D14B4}" destId="{32D27F38-64D2-D145-9C37-1C772EF17BAD}" srcOrd="0" destOrd="0" presId="urn:microsoft.com/office/officeart/2005/8/layout/orgChart1"/>
    <dgm:cxn modelId="{72041A66-CF15-F84C-AC4A-B8A347EE1539}" srcId="{63F7BB33-DDA3-E042-AB37-77FF22E7BC15}" destId="{7EDC375A-7D5F-5C49-82FD-DDBF09DA15BF}" srcOrd="2" destOrd="0" parTransId="{B63E5FCE-BE77-604B-BC62-B55EF7D54397}" sibTransId="{E76694D3-B266-DB43-B824-9B7FFAE46718}"/>
    <dgm:cxn modelId="{2EF35D78-150E-C04C-95E7-39BD5D4EA2A9}" type="presOf" srcId="{C95CA2F0-D84A-8849-BE84-E8858F236180}" destId="{1998EAAD-5D19-654D-9E2A-11F6F10D27A0}" srcOrd="1" destOrd="0" presId="urn:microsoft.com/office/officeart/2005/8/layout/orgChart1"/>
    <dgm:cxn modelId="{8D9F6659-4CA5-EF49-B817-49F8ABD8FD4C}" type="presOf" srcId="{87C2AB92-F38A-D043-8EF1-8DE8EB2867DF}" destId="{F736D124-1029-BE4E-BD44-052D3FFFE9BA}" srcOrd="0" destOrd="0" presId="urn:microsoft.com/office/officeart/2005/8/layout/orgChart1"/>
    <dgm:cxn modelId="{966F947F-3835-BC49-9785-1E24BF150905}" type="presOf" srcId="{C95CA2F0-D84A-8849-BE84-E8858F236180}" destId="{7E1A7E54-AD31-C74C-9BAB-1F97789182CF}" srcOrd="0" destOrd="0" presId="urn:microsoft.com/office/officeart/2005/8/layout/orgChart1"/>
    <dgm:cxn modelId="{A34CD88F-5994-AB43-8B48-E526EC4A1BC1}" srcId="{63F7BB33-DDA3-E042-AB37-77FF22E7BC15}" destId="{C95CA2F0-D84A-8849-BE84-E8858F236180}" srcOrd="1" destOrd="0" parTransId="{01696AF9-D0A3-D249-921E-E3FB57A9DAB4}" sibTransId="{69A17BC4-C157-724F-B984-8B4219A88B69}"/>
    <dgm:cxn modelId="{6CCAC798-040D-184B-BF03-607CC0D73006}" type="presOf" srcId="{63F7BB33-DDA3-E042-AB37-77FF22E7BC15}" destId="{25B93E6D-CBFF-9A4E-9942-963456519F4E}" srcOrd="1" destOrd="0" presId="urn:microsoft.com/office/officeart/2005/8/layout/orgChart1"/>
    <dgm:cxn modelId="{D172B3D1-BB2B-4B41-AE19-891570993E2B}" type="presOf" srcId="{B63E5FCE-BE77-604B-BC62-B55EF7D54397}" destId="{C07424E2-0D15-C348-8879-A61801054E0C}" srcOrd="0" destOrd="0" presId="urn:microsoft.com/office/officeart/2005/8/layout/orgChart1"/>
    <dgm:cxn modelId="{38EFA1DC-8DCF-874F-AB15-734BF40B5A30}" type="presOf" srcId="{7EDC375A-7D5F-5C49-82FD-DDBF09DA15BF}" destId="{21AA42B4-B359-C44B-82F7-CE99C0525937}" srcOrd="0" destOrd="0" presId="urn:microsoft.com/office/officeart/2005/8/layout/orgChart1"/>
    <dgm:cxn modelId="{530C846E-810A-CC40-BDFE-BC9BD0F41F88}" type="presParOf" srcId="{F736D124-1029-BE4E-BD44-052D3FFFE9BA}" destId="{536A5964-3AF5-DD47-8D02-B9A9D8B46D95}" srcOrd="0" destOrd="0" presId="urn:microsoft.com/office/officeart/2005/8/layout/orgChart1"/>
    <dgm:cxn modelId="{D09E3648-3DCE-5544-9F13-FD41D9EB84EC}" type="presParOf" srcId="{536A5964-3AF5-DD47-8D02-B9A9D8B46D95}" destId="{4038571F-ABED-1A48-AFBD-BA38B3413E2E}" srcOrd="0" destOrd="0" presId="urn:microsoft.com/office/officeart/2005/8/layout/orgChart1"/>
    <dgm:cxn modelId="{1A3C2F54-EF1D-D641-9157-15662339AA48}" type="presParOf" srcId="{4038571F-ABED-1A48-AFBD-BA38B3413E2E}" destId="{4526622F-3FDC-374A-B9B6-FA94C4E60A16}" srcOrd="0" destOrd="0" presId="urn:microsoft.com/office/officeart/2005/8/layout/orgChart1"/>
    <dgm:cxn modelId="{CFEB55DC-3E60-9C4D-AD9A-D1F00100D06D}" type="presParOf" srcId="{4038571F-ABED-1A48-AFBD-BA38B3413E2E}" destId="{25B93E6D-CBFF-9A4E-9942-963456519F4E}" srcOrd="1" destOrd="0" presId="urn:microsoft.com/office/officeart/2005/8/layout/orgChart1"/>
    <dgm:cxn modelId="{6887335F-2CA1-D148-9852-76BDB56D8847}" type="presParOf" srcId="{536A5964-3AF5-DD47-8D02-B9A9D8B46D95}" destId="{76574CC6-9DCF-7846-ACF8-2D8613A327A4}" srcOrd="1" destOrd="0" presId="urn:microsoft.com/office/officeart/2005/8/layout/orgChart1"/>
    <dgm:cxn modelId="{F524F7FC-90BB-5D40-88A3-A06D0E659134}" type="presParOf" srcId="{76574CC6-9DCF-7846-ACF8-2D8613A327A4}" destId="{32D27F38-64D2-D145-9C37-1C772EF17BAD}" srcOrd="0" destOrd="0" presId="urn:microsoft.com/office/officeart/2005/8/layout/orgChart1"/>
    <dgm:cxn modelId="{4D1A4118-BA0D-D342-8FBC-93E71041DB3D}" type="presParOf" srcId="{76574CC6-9DCF-7846-ACF8-2D8613A327A4}" destId="{B3FFD7FF-CEDE-B340-A8A9-5B4A816DA555}" srcOrd="1" destOrd="0" presId="urn:microsoft.com/office/officeart/2005/8/layout/orgChart1"/>
    <dgm:cxn modelId="{21B090FF-48DD-1349-A9B7-7FDDEE595EA0}" type="presParOf" srcId="{B3FFD7FF-CEDE-B340-A8A9-5B4A816DA555}" destId="{E4B6C345-C32A-4449-AB72-1E23751DD118}" srcOrd="0" destOrd="0" presId="urn:microsoft.com/office/officeart/2005/8/layout/orgChart1"/>
    <dgm:cxn modelId="{DB470D66-1EE8-ED46-A801-2137B2A1D6D7}" type="presParOf" srcId="{E4B6C345-C32A-4449-AB72-1E23751DD118}" destId="{DDF6D8D3-BD32-794F-9E9E-71634CC3F050}" srcOrd="0" destOrd="0" presId="urn:microsoft.com/office/officeart/2005/8/layout/orgChart1"/>
    <dgm:cxn modelId="{69DC57A0-8BD9-B849-A683-9EA3937D8428}" type="presParOf" srcId="{E4B6C345-C32A-4449-AB72-1E23751DD118}" destId="{21C6FC21-A5C3-A146-BC26-081A5525D315}" srcOrd="1" destOrd="0" presId="urn:microsoft.com/office/officeart/2005/8/layout/orgChart1"/>
    <dgm:cxn modelId="{827BD12D-4662-2349-9A08-C88E5513ECAD}" type="presParOf" srcId="{B3FFD7FF-CEDE-B340-A8A9-5B4A816DA555}" destId="{6CA138F3-13FC-9141-8B3A-D7EEC3720617}" srcOrd="1" destOrd="0" presId="urn:microsoft.com/office/officeart/2005/8/layout/orgChart1"/>
    <dgm:cxn modelId="{A9E6BDDC-CC97-254A-A4A4-326E6F7E1733}" type="presParOf" srcId="{B3FFD7FF-CEDE-B340-A8A9-5B4A816DA555}" destId="{E5C29C9F-4400-FD49-BCE9-B9E6157FB7B9}" srcOrd="2" destOrd="0" presId="urn:microsoft.com/office/officeart/2005/8/layout/orgChart1"/>
    <dgm:cxn modelId="{560A10FF-6369-8345-9ACA-83A1070F8F37}" type="presParOf" srcId="{76574CC6-9DCF-7846-ACF8-2D8613A327A4}" destId="{875F74BF-AC41-924C-8904-6225BF2F6523}" srcOrd="2" destOrd="0" presId="urn:microsoft.com/office/officeart/2005/8/layout/orgChart1"/>
    <dgm:cxn modelId="{1B4D3352-1B6E-864D-BB05-BA2C60D06ADB}" type="presParOf" srcId="{76574CC6-9DCF-7846-ACF8-2D8613A327A4}" destId="{CC14A4F8-4B4D-2C4D-A317-32B94691F4A1}" srcOrd="3" destOrd="0" presId="urn:microsoft.com/office/officeart/2005/8/layout/orgChart1"/>
    <dgm:cxn modelId="{243F7666-F288-704D-9D87-BE87BD30CA14}" type="presParOf" srcId="{CC14A4F8-4B4D-2C4D-A317-32B94691F4A1}" destId="{0013B9C0-EAE8-244A-B4BC-5DDFA47779C0}" srcOrd="0" destOrd="0" presId="urn:microsoft.com/office/officeart/2005/8/layout/orgChart1"/>
    <dgm:cxn modelId="{72E58091-5FFB-0348-8C5E-79FBF847746B}" type="presParOf" srcId="{0013B9C0-EAE8-244A-B4BC-5DDFA47779C0}" destId="{7E1A7E54-AD31-C74C-9BAB-1F97789182CF}" srcOrd="0" destOrd="0" presId="urn:microsoft.com/office/officeart/2005/8/layout/orgChart1"/>
    <dgm:cxn modelId="{7A369147-7DA9-BB48-8708-1392A9B98F00}" type="presParOf" srcId="{0013B9C0-EAE8-244A-B4BC-5DDFA47779C0}" destId="{1998EAAD-5D19-654D-9E2A-11F6F10D27A0}" srcOrd="1" destOrd="0" presId="urn:microsoft.com/office/officeart/2005/8/layout/orgChart1"/>
    <dgm:cxn modelId="{259E41D1-6089-1747-99A9-03D07A4409F2}" type="presParOf" srcId="{CC14A4F8-4B4D-2C4D-A317-32B94691F4A1}" destId="{CD8EF666-F25F-3947-90D6-29060146B412}" srcOrd="1" destOrd="0" presId="urn:microsoft.com/office/officeart/2005/8/layout/orgChart1"/>
    <dgm:cxn modelId="{199B4FB2-978B-0642-BC84-1BBD3E822AC5}" type="presParOf" srcId="{CC14A4F8-4B4D-2C4D-A317-32B94691F4A1}" destId="{EFBAE59D-3D87-1B45-A1BB-4BD8E09AB6B0}" srcOrd="2" destOrd="0" presId="urn:microsoft.com/office/officeart/2005/8/layout/orgChart1"/>
    <dgm:cxn modelId="{1C006B24-E20D-D646-B766-080CE71112BA}" type="presParOf" srcId="{76574CC6-9DCF-7846-ACF8-2D8613A327A4}" destId="{C07424E2-0D15-C348-8879-A61801054E0C}" srcOrd="4" destOrd="0" presId="urn:microsoft.com/office/officeart/2005/8/layout/orgChart1"/>
    <dgm:cxn modelId="{6DF55197-CCDD-6445-ABF9-933DA4894241}" type="presParOf" srcId="{76574CC6-9DCF-7846-ACF8-2D8613A327A4}" destId="{2BA84D12-D7C6-5F42-979F-0E80C8A7BC85}" srcOrd="5" destOrd="0" presId="urn:microsoft.com/office/officeart/2005/8/layout/orgChart1"/>
    <dgm:cxn modelId="{BB7373E9-C57F-1845-8A41-87D697BB6D2D}" type="presParOf" srcId="{2BA84D12-D7C6-5F42-979F-0E80C8A7BC85}" destId="{7571CEE6-E711-DD41-B5A8-0F9CF3D1AE6F}" srcOrd="0" destOrd="0" presId="urn:microsoft.com/office/officeart/2005/8/layout/orgChart1"/>
    <dgm:cxn modelId="{883E02D8-F267-9B40-BF7B-ECF98835AA16}" type="presParOf" srcId="{7571CEE6-E711-DD41-B5A8-0F9CF3D1AE6F}" destId="{21AA42B4-B359-C44B-82F7-CE99C0525937}" srcOrd="0" destOrd="0" presId="urn:microsoft.com/office/officeart/2005/8/layout/orgChart1"/>
    <dgm:cxn modelId="{E6AAC8B0-CA4B-FA4A-94FF-D4EC4121EDD7}" type="presParOf" srcId="{7571CEE6-E711-DD41-B5A8-0F9CF3D1AE6F}" destId="{D1C31D30-A68E-6F42-8779-6124EE87ED02}" srcOrd="1" destOrd="0" presId="urn:microsoft.com/office/officeart/2005/8/layout/orgChart1"/>
    <dgm:cxn modelId="{56A3DB51-1B37-4044-AE42-66E6CD708F75}" type="presParOf" srcId="{2BA84D12-D7C6-5F42-979F-0E80C8A7BC85}" destId="{26D29226-4170-2F41-8C7E-F65A970485C9}" srcOrd="1" destOrd="0" presId="urn:microsoft.com/office/officeart/2005/8/layout/orgChart1"/>
    <dgm:cxn modelId="{B5ADDF4F-822A-BF49-8A16-CAB6A8DA412C}" type="presParOf" srcId="{2BA84D12-D7C6-5F42-979F-0E80C8A7BC85}" destId="{30E7A0DC-8AE9-D14D-9EE4-BFC0DF879CC0}" srcOrd="2" destOrd="0" presId="urn:microsoft.com/office/officeart/2005/8/layout/orgChart1"/>
    <dgm:cxn modelId="{29950059-A53C-0642-BFCC-92072FF8672E}" type="presParOf" srcId="{536A5964-3AF5-DD47-8D02-B9A9D8B46D95}" destId="{14343DB5-8D5B-A247-B940-D9EC8FE3CE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7424E2-0D15-C348-8879-A61801054E0C}">
      <dsp:nvSpPr>
        <dsp:cNvPr id="0" name=""/>
        <dsp:cNvSpPr/>
      </dsp:nvSpPr>
      <dsp:spPr>
        <a:xfrm>
          <a:off x="4205017" y="1966843"/>
          <a:ext cx="2953607" cy="999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2489"/>
              </a:lnTo>
              <a:lnTo>
                <a:pt x="2953607" y="742489"/>
              </a:lnTo>
              <a:lnTo>
                <a:pt x="2953607" y="999885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5F74BF-AC41-924C-8904-6225BF2F6523}">
      <dsp:nvSpPr>
        <dsp:cNvPr id="0" name=""/>
        <dsp:cNvSpPr/>
      </dsp:nvSpPr>
      <dsp:spPr>
        <a:xfrm>
          <a:off x="4146721" y="1966843"/>
          <a:ext cx="91440" cy="999885"/>
        </a:xfrm>
        <a:custGeom>
          <a:avLst/>
          <a:gdLst/>
          <a:ahLst/>
          <a:cxnLst/>
          <a:rect l="0" t="0" r="0" b="0"/>
          <a:pathLst>
            <a:path>
              <a:moveTo>
                <a:pt x="58295" y="0"/>
              </a:moveTo>
              <a:lnTo>
                <a:pt x="58295" y="742489"/>
              </a:lnTo>
              <a:lnTo>
                <a:pt x="45720" y="742489"/>
              </a:lnTo>
              <a:lnTo>
                <a:pt x="45720" y="999885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D27F38-64D2-D145-9C37-1C772EF17BAD}">
      <dsp:nvSpPr>
        <dsp:cNvPr id="0" name=""/>
        <dsp:cNvSpPr/>
      </dsp:nvSpPr>
      <dsp:spPr>
        <a:xfrm>
          <a:off x="1226258" y="1966843"/>
          <a:ext cx="2978758" cy="999885"/>
        </a:xfrm>
        <a:custGeom>
          <a:avLst/>
          <a:gdLst/>
          <a:ahLst/>
          <a:cxnLst/>
          <a:rect l="0" t="0" r="0" b="0"/>
          <a:pathLst>
            <a:path>
              <a:moveTo>
                <a:pt x="2978758" y="0"/>
              </a:moveTo>
              <a:lnTo>
                <a:pt x="2978758" y="742489"/>
              </a:lnTo>
              <a:lnTo>
                <a:pt x="0" y="742489"/>
              </a:lnTo>
              <a:lnTo>
                <a:pt x="0" y="999885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6622F-3FDC-374A-B9B6-FA94C4E60A16}">
      <dsp:nvSpPr>
        <dsp:cNvPr id="0" name=""/>
        <dsp:cNvSpPr/>
      </dsp:nvSpPr>
      <dsp:spPr>
        <a:xfrm>
          <a:off x="2979321" y="741148"/>
          <a:ext cx="2451390" cy="1225695"/>
        </a:xfrm>
        <a:prstGeom prst="rect">
          <a:avLst/>
        </a:prstGeom>
        <a:solidFill>
          <a:schemeClr val="bg2">
            <a:lumMod val="90000"/>
          </a:schemeClr>
        </a:solidFill>
        <a:ln>
          <a:solidFill>
            <a:schemeClr val="bg2">
              <a:lumMod val="25000"/>
            </a:schemeClr>
          </a:solidFill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Presentation Outline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2979321" y="741148"/>
        <a:ext cx="2451390" cy="1225695"/>
      </dsp:txXfrm>
    </dsp:sp>
    <dsp:sp modelId="{DDF6D8D3-BD32-794F-9E9E-71634CC3F050}">
      <dsp:nvSpPr>
        <dsp:cNvPr id="0" name=""/>
        <dsp:cNvSpPr/>
      </dsp:nvSpPr>
      <dsp:spPr>
        <a:xfrm>
          <a:off x="562" y="2966729"/>
          <a:ext cx="2451390" cy="1225695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Deviation Causes</a:t>
          </a:r>
        </a:p>
      </dsp:txBody>
      <dsp:txXfrm>
        <a:off x="562" y="2966729"/>
        <a:ext cx="2451390" cy="1225695"/>
      </dsp:txXfrm>
    </dsp:sp>
    <dsp:sp modelId="{7E1A7E54-AD31-C74C-9BAB-1F97789182CF}">
      <dsp:nvSpPr>
        <dsp:cNvPr id="0" name=""/>
        <dsp:cNvSpPr/>
      </dsp:nvSpPr>
      <dsp:spPr>
        <a:xfrm>
          <a:off x="2966746" y="2966729"/>
          <a:ext cx="2451390" cy="1225695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Deviation Impacts</a:t>
          </a:r>
        </a:p>
      </dsp:txBody>
      <dsp:txXfrm>
        <a:off x="2966746" y="2966729"/>
        <a:ext cx="2451390" cy="1225695"/>
      </dsp:txXfrm>
    </dsp:sp>
    <dsp:sp modelId="{21AA42B4-B359-C44B-82F7-CE99C0525937}">
      <dsp:nvSpPr>
        <dsp:cNvPr id="0" name=""/>
        <dsp:cNvSpPr/>
      </dsp:nvSpPr>
      <dsp:spPr>
        <a:xfrm>
          <a:off x="5932929" y="2966729"/>
          <a:ext cx="2451390" cy="1225695"/>
        </a:xfrm>
        <a:prstGeom prst="rect">
          <a:avLst/>
        </a:prstGeom>
        <a:solidFill>
          <a:schemeClr val="bg2">
            <a:lumMod val="75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rPr>
            <a:t>Frequency Deviating Mitigations</a:t>
          </a:r>
        </a:p>
      </dsp:txBody>
      <dsp:txXfrm>
        <a:off x="5932929" y="2966729"/>
        <a:ext cx="2451390" cy="1225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5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3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1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2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7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0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4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1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8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40F59-C0D5-6846-B0D2-E7C943F3BD47}" type="datetimeFigureOut">
              <a:rPr lang="en-US" smtClean="0"/>
              <a:t>6/23/2018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C219-7729-9C46-A265-4B7DA1B20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6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19" y="1395412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r>
              <a:rPr lang="en-US" b="1" dirty="0">
                <a:latin typeface="Times New Roman"/>
                <a:cs typeface="Times New Roman"/>
              </a:rPr>
              <a:t>Study </a:t>
            </a:r>
            <a:r>
              <a:rPr lang="en-US" b="1">
                <a:latin typeface="Times New Roman"/>
                <a:cs typeface="Times New Roman"/>
              </a:rPr>
              <a:t>the Effects </a:t>
            </a:r>
            <a:r>
              <a:rPr lang="en-US" b="1" dirty="0">
                <a:latin typeface="Times New Roman"/>
                <a:cs typeface="Times New Roman"/>
              </a:rPr>
              <a:t>of Renewable Resources on Electric Grid Frequency</a:t>
            </a: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r>
              <a:rPr lang="en-US" sz="3600" dirty="0">
                <a:latin typeface="Times New Roman"/>
                <a:cs typeface="Times New Roman"/>
              </a:rPr>
              <a:t>Mohamed Abuella</a:t>
            </a:r>
            <a:br>
              <a:rPr lang="en-US" sz="3600" dirty="0">
                <a:latin typeface="Times New Roman"/>
                <a:cs typeface="Times New Roman"/>
              </a:rPr>
            </a:br>
            <a:br>
              <a:rPr lang="en-US" sz="3600" dirty="0">
                <a:latin typeface="Times New Roman"/>
                <a:cs typeface="Times New Roman"/>
              </a:rPr>
            </a:br>
            <a:r>
              <a:rPr lang="en-US" sz="2200" b="1" dirty="0">
                <a:latin typeface="Times New Roman"/>
                <a:cs typeface="Times New Roman"/>
              </a:rPr>
              <a:t>ECGR8090</a:t>
            </a:r>
            <a:r>
              <a:rPr lang="en-US" sz="3100" b="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POWER QUALTY</a:t>
            </a: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b="1" dirty="0">
                <a:latin typeface="Times New Roman"/>
                <a:cs typeface="Times New Roman"/>
              </a:rPr>
            </a:br>
            <a:r>
              <a:rPr lang="en-US" sz="2000" b="1" dirty="0">
                <a:latin typeface="Times New Roman"/>
                <a:cs typeface="Times New Roman"/>
              </a:rPr>
              <a:t> Fall 2014</a:t>
            </a: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b="1" dirty="0">
                <a:latin typeface="Times New Roman"/>
                <a:cs typeface="Times New Roman"/>
              </a:rPr>
            </a:br>
            <a:r>
              <a:rPr lang="en-US" sz="2000" b="1" dirty="0">
                <a:latin typeface="Times New Roman"/>
                <a:cs typeface="Times New Roman"/>
              </a:rPr>
              <a:t>University of North Carolina at Charlotte </a:t>
            </a:r>
            <a:br>
              <a:rPr lang="en-US" sz="2000" b="1" dirty="0">
                <a:latin typeface="Times New Roman"/>
                <a:cs typeface="Times New Roman"/>
              </a:rPr>
            </a:br>
            <a:br>
              <a:rPr lang="en-US" sz="2000" b="1" dirty="0">
                <a:latin typeface="Times New Roman"/>
                <a:cs typeface="Times New Roman"/>
              </a:rPr>
            </a:br>
            <a:endParaRPr lang="en-US" sz="2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133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20193797"/>
              </p:ext>
            </p:extLst>
          </p:nvPr>
        </p:nvGraphicFramePr>
        <p:xfrm>
          <a:off x="472158" y="488750"/>
          <a:ext cx="838488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36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3976294" y="762000"/>
            <a:ext cx="2293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2800" b="1" i="0" baseline="-25000" dirty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=P</a:t>
            </a:r>
            <a:r>
              <a:rPr lang="en-US" sz="2800" b="1" baseline="-25000" dirty="0">
                <a:latin typeface="Times New Roman" charset="0"/>
                <a:ea typeface="Times New Roman" charset="0"/>
                <a:cs typeface="Times New Roman" charset="0"/>
              </a:rPr>
              <a:t>D 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+ P</a:t>
            </a:r>
            <a:r>
              <a:rPr lang="en-US" sz="2800" b="1" baseline="-25000" dirty="0">
                <a:latin typeface="Times New Roman" charset="0"/>
                <a:ea typeface="Times New Roman" charset="0"/>
                <a:cs typeface="Times New Roman" charset="0"/>
              </a:rPr>
              <a:t>loss</a:t>
            </a:r>
            <a:endParaRPr lang="en-US" sz="2800" b="1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Rectangle 3"/>
          <p:cNvSpPr txBox="1"/>
          <p:nvPr/>
        </p:nvSpPr>
        <p:spPr>
          <a:xfrm>
            <a:off x="342900" y="1176011"/>
            <a:ext cx="245745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Renewables Generations</a:t>
            </a:r>
          </a:p>
          <a:p>
            <a:pPr algn="ctr"/>
            <a:r>
              <a:rPr lang="en-US" sz="2000" b="1" i="0" dirty="0">
                <a:latin typeface="Times New Roman" charset="0"/>
                <a:ea typeface="Times New Roman" charset="0"/>
                <a:cs typeface="Times New Roman" charset="0"/>
              </a:rPr>
              <a:t>(Wind and Solar) </a:t>
            </a: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are Too Variable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12" name="Rectangle 11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causes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1049" y="2568641"/>
            <a:ext cx="2297730" cy="13874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900" y="3939789"/>
            <a:ext cx="1541027" cy="12370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483" y="5176876"/>
            <a:ext cx="1485207" cy="1513564"/>
          </a:xfrm>
          <a:prstGeom prst="rect">
            <a:avLst/>
          </a:prstGeom>
        </p:spPr>
      </p:pic>
      <p:sp>
        <p:nvSpPr>
          <p:cNvPr id="21" name="Rectangle 3"/>
          <p:cNvSpPr txBox="1"/>
          <p:nvPr/>
        </p:nvSpPr>
        <p:spPr>
          <a:xfrm>
            <a:off x="3976294" y="1476623"/>
            <a:ext cx="229331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latin typeface="Times New Roman" charset="0"/>
                <a:ea typeface="Times New Roman" charset="0"/>
                <a:cs typeface="Times New Roman" charset="0"/>
              </a:rPr>
              <a:t>ΔP  </a:t>
            </a: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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  </a:t>
            </a:r>
            <a:r>
              <a:rPr lang="en-US" sz="2800" b="1" i="0" dirty="0" err="1">
                <a:latin typeface="Times New Roman" charset="0"/>
                <a:ea typeface="Times New Roman" charset="0"/>
                <a:cs typeface="Times New Roman" charset="0"/>
              </a:rPr>
              <a:t>Δf</a:t>
            </a:r>
            <a:endParaRPr lang="en-US" sz="2800" b="1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257" y="224716"/>
            <a:ext cx="2214755" cy="204805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255072" y="2272770"/>
            <a:ext cx="5800322" cy="4417670"/>
            <a:chOff x="3255072" y="2272770"/>
            <a:chExt cx="5800322" cy="441767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5072" y="2272770"/>
              <a:ext cx="5800322" cy="441767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884108" y="3191904"/>
              <a:ext cx="1821281" cy="5514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364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3976294" y="762000"/>
            <a:ext cx="2293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2800" b="1" i="0" baseline="-25000" dirty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=P</a:t>
            </a:r>
            <a:r>
              <a:rPr lang="en-US" sz="2800" b="1" baseline="-25000" dirty="0">
                <a:latin typeface="Times New Roman" charset="0"/>
                <a:ea typeface="Times New Roman" charset="0"/>
                <a:cs typeface="Times New Roman" charset="0"/>
              </a:rPr>
              <a:t>D 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+ P</a:t>
            </a:r>
            <a:r>
              <a:rPr lang="en-US" sz="2800" b="1" baseline="-25000" dirty="0">
                <a:latin typeface="Times New Roman" charset="0"/>
                <a:ea typeface="Times New Roman" charset="0"/>
                <a:cs typeface="Times New Roman" charset="0"/>
              </a:rPr>
              <a:t>loss</a:t>
            </a:r>
            <a:endParaRPr lang="en-US" sz="2800" b="1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Rectangle 3"/>
          <p:cNvSpPr txBox="1"/>
          <p:nvPr/>
        </p:nvSpPr>
        <p:spPr>
          <a:xfrm>
            <a:off x="114299" y="956306"/>
            <a:ext cx="3594703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Prime Mover Governor</a:t>
            </a:r>
          </a:p>
          <a:p>
            <a:pPr algn="ctr"/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Automatic Generation Control</a:t>
            </a:r>
          </a:p>
          <a:p>
            <a:pPr algn="ctr"/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</a:rPr>
              <a:t>(AGC)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12" name="Rectangle 11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causes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1" name="Rectangle 3"/>
          <p:cNvSpPr txBox="1"/>
          <p:nvPr/>
        </p:nvSpPr>
        <p:spPr>
          <a:xfrm>
            <a:off x="3976294" y="1476623"/>
            <a:ext cx="229331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latin typeface="Times New Roman" charset="0"/>
                <a:ea typeface="Times New Roman" charset="0"/>
                <a:cs typeface="Times New Roman" charset="0"/>
              </a:rPr>
              <a:t>ΔP  </a:t>
            </a:r>
            <a:r>
              <a:rPr lang="en-US" sz="2000" b="1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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  </a:t>
            </a:r>
            <a:r>
              <a:rPr lang="en-US" sz="2800" b="1" i="0" dirty="0" err="1">
                <a:latin typeface="Times New Roman" charset="0"/>
                <a:ea typeface="Times New Roman" charset="0"/>
                <a:cs typeface="Times New Roman" charset="0"/>
              </a:rPr>
              <a:t>Δf</a:t>
            </a:r>
            <a:endParaRPr lang="en-US" sz="2800" b="1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57" y="224716"/>
            <a:ext cx="2214755" cy="20480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038" y="5296280"/>
            <a:ext cx="4042974" cy="12044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41" y="2565717"/>
            <a:ext cx="4499560" cy="215073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2196385"/>
            <a:ext cx="5349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Area Control Error (ACE)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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Minimize {ΔP,  </a:t>
            </a:r>
            <a:r>
              <a:rPr lang="en-US" b="1" dirty="0" err="1">
                <a:latin typeface="Times New Roman" charset="0"/>
                <a:ea typeface="Times New Roman" charset="0"/>
                <a:cs typeface="Times New Roman" charset="0"/>
              </a:rPr>
              <a:t>Δf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}</a:t>
            </a:r>
            <a:endParaRPr lang="en-US" b="1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1" y="2610420"/>
            <a:ext cx="1276577" cy="154565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055156" y="-4535048"/>
            <a:ext cx="3492500" cy="23241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/>
          <a:srcRect l="18470" t="25863" r="38656" b="20627"/>
          <a:stretch/>
        </p:blipFill>
        <p:spPr>
          <a:xfrm>
            <a:off x="94141" y="4182821"/>
            <a:ext cx="2127330" cy="265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0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" t="11677" b="10205"/>
          <a:stretch/>
        </p:blipFill>
        <p:spPr bwMode="auto">
          <a:xfrm>
            <a:off x="331133" y="921362"/>
            <a:ext cx="4157005" cy="20675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8" name="Rectangle 7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causes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29928" y="4692791"/>
            <a:ext cx="77758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Frequency stability </a:t>
            </a:r>
            <a:r>
              <a:rPr lang="en-US" dirty="0">
                <a:latin typeface="Times New Roman"/>
                <a:cs typeface="Times New Roman"/>
              </a:rPr>
              <a:t>is the ability of the system frequency to stay stable within the safe limits and retunes to its stability after the disturbance is removed.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290" y="5481712"/>
            <a:ext cx="88567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imes New Roman"/>
                <a:ea typeface="ＭＳ 明朝"/>
              </a:rPr>
              <a:t>IEEE1547</a:t>
            </a:r>
            <a:r>
              <a:rPr lang="en-US" dirty="0">
                <a:effectLst/>
                <a:latin typeface="Times New Roman"/>
                <a:ea typeface="ＭＳ 明朝"/>
              </a:rPr>
              <a:t> Standard for Interconnecting Distributed Resources with Electric Power Systems.</a:t>
            </a:r>
          </a:p>
          <a:p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b="1" dirty="0">
                <a:effectLst/>
                <a:latin typeface="Times New Roman"/>
                <a:ea typeface="ＭＳ 明朝"/>
              </a:rPr>
              <a:t>NERC Standard BAL-003</a:t>
            </a:r>
            <a:r>
              <a:rPr lang="en-US" dirty="0">
                <a:effectLst/>
                <a:latin typeface="Times New Roman"/>
                <a:ea typeface="ＭＳ 明朝"/>
              </a:rPr>
              <a:t>, Frequency Response and Frequency Bias.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33" y="3083218"/>
            <a:ext cx="2315375" cy="1609573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5013612" y="228600"/>
            <a:ext cx="3959121" cy="3208171"/>
            <a:chOff x="5013612" y="228600"/>
            <a:chExt cx="3959121" cy="3208171"/>
          </a:xfrm>
        </p:grpSpPr>
        <p:grpSp>
          <p:nvGrpSpPr>
            <p:cNvPr id="19" name="Group 18"/>
            <p:cNvGrpSpPr/>
            <p:nvPr/>
          </p:nvGrpSpPr>
          <p:grpSpPr>
            <a:xfrm>
              <a:off x="5013612" y="228600"/>
              <a:ext cx="3959121" cy="2600976"/>
              <a:chOff x="5013612" y="228600"/>
              <a:chExt cx="3959121" cy="2600976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3612" y="228600"/>
                <a:ext cx="3959121" cy="2600976"/>
              </a:xfrm>
              <a:prstGeom prst="rect">
                <a:avLst/>
              </a:prstGeom>
            </p:spPr>
          </p:pic>
          <p:sp>
            <p:nvSpPr>
              <p:cNvPr id="17" name="Line Callout 1 16"/>
              <p:cNvSpPr/>
              <p:nvPr/>
            </p:nvSpPr>
            <p:spPr>
              <a:xfrm>
                <a:off x="5932444" y="1802750"/>
                <a:ext cx="1127874" cy="426267"/>
              </a:xfrm>
              <a:prstGeom prst="borderCallout1">
                <a:avLst>
                  <a:gd name="adj1" fmla="val -5895"/>
                  <a:gd name="adj2" fmla="val 29112"/>
                  <a:gd name="adj3" fmla="val -104758"/>
                  <a:gd name="adj4" fmla="val 17505"/>
                </a:avLst>
              </a:prstGeom>
              <a:noFill/>
              <a:ln>
                <a:solidFill>
                  <a:srgbClr val="00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Frequency nadir</a:t>
                </a:r>
              </a:p>
            </p:txBody>
          </p:sp>
          <p:sp>
            <p:nvSpPr>
              <p:cNvPr id="18" name="Line Callout 1 17"/>
              <p:cNvSpPr/>
              <p:nvPr/>
            </p:nvSpPr>
            <p:spPr>
              <a:xfrm>
                <a:off x="7844859" y="1528883"/>
                <a:ext cx="1127874" cy="426267"/>
              </a:xfrm>
              <a:prstGeom prst="borderCallout1">
                <a:avLst>
                  <a:gd name="adj1" fmla="val -5895"/>
                  <a:gd name="adj2" fmla="val 61395"/>
                  <a:gd name="adj3" fmla="val -106842"/>
                  <a:gd name="adj4" fmla="val 67899"/>
                </a:avLst>
              </a:prstGeom>
              <a:noFill/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Frequency setting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5888040" y="3006700"/>
              <a:ext cx="2647933" cy="430071"/>
              <a:chOff x="5888040" y="3006700"/>
              <a:chExt cx="2647933" cy="430071"/>
            </a:xfrm>
          </p:grpSpPr>
          <p:sp>
            <p:nvSpPr>
              <p:cNvPr id="21" name="Line Callout 1 20"/>
              <p:cNvSpPr/>
              <p:nvPr/>
            </p:nvSpPr>
            <p:spPr>
              <a:xfrm>
                <a:off x="7495482" y="3006700"/>
                <a:ext cx="1040491" cy="430071"/>
              </a:xfrm>
              <a:prstGeom prst="borderCallout1">
                <a:avLst>
                  <a:gd name="adj1" fmla="val 48090"/>
                  <a:gd name="adj2" fmla="val -1398"/>
                  <a:gd name="adj3" fmla="val 48675"/>
                  <a:gd name="adj4" fmla="val -45366"/>
                </a:avLst>
              </a:prstGeom>
              <a:noFill/>
              <a:ln cap="flat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Frequency bias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888040" y="3045872"/>
                <a:ext cx="112787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0" dirty="0">
                    <a:latin typeface="Times New Roman" charset="0"/>
                    <a:ea typeface="Times New Roman" charset="0"/>
                    <a:cs typeface="Times New Roman" charset="0"/>
                  </a:rPr>
                  <a:t>ΔP/</a:t>
                </a:r>
                <a:r>
                  <a:rPr lang="en-US" b="1" dirty="0">
                    <a:latin typeface="Times New Roman" charset="0"/>
                    <a:ea typeface="Times New Roman" charset="0"/>
                    <a:cs typeface="Times New Roman" charset="0"/>
                    <a:sym typeface="Wingdings"/>
                  </a:rPr>
                  <a:t> </a:t>
                </a:r>
                <a:r>
                  <a:rPr lang="en-US" b="1" i="0" dirty="0">
                    <a:latin typeface="Times New Roman" charset="0"/>
                    <a:ea typeface="Times New Roman" charset="0"/>
                    <a:cs typeface="Times New Roman" charset="0"/>
                  </a:rPr>
                  <a:t>ΔF</a:t>
                </a:r>
                <a:endParaRPr lang="en-US" b="1" i="0" baseline="-25000" dirty="0"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p:grpSp>
      </p:grpSp>
      <p:sp>
        <p:nvSpPr>
          <p:cNvPr id="25" name="Rectangle 24"/>
          <p:cNvSpPr/>
          <p:nvPr/>
        </p:nvSpPr>
        <p:spPr>
          <a:xfrm>
            <a:off x="5321612" y="3734042"/>
            <a:ext cx="3328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0" dirty="0">
                <a:latin typeface="Times New Roman" charset="0"/>
                <a:ea typeface="Times New Roman" charset="0"/>
                <a:cs typeface="Times New Roman" charset="0"/>
              </a:rPr>
              <a:t>In small systems 2-3MW/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 </a:t>
            </a:r>
            <a:r>
              <a:rPr lang="en-US" i="0" dirty="0">
                <a:latin typeface="Times New Roman" charset="0"/>
                <a:ea typeface="Times New Roman" charset="0"/>
                <a:cs typeface="Times New Roman" charset="0"/>
              </a:rPr>
              <a:t>0.1Hz</a:t>
            </a:r>
            <a:endParaRPr lang="en-US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13612" y="4080748"/>
            <a:ext cx="39591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In Large systems 500-600MW</a:t>
            </a:r>
            <a:r>
              <a:rPr lang="en-US" i="0" dirty="0">
                <a:latin typeface="Times New Roman" charset="0"/>
                <a:ea typeface="Times New Roman" charset="0"/>
                <a:cs typeface="Times New Roman" charset="0"/>
              </a:rPr>
              <a:t>/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  <a:sym typeface="Wingdings"/>
              </a:rPr>
              <a:t> </a:t>
            </a:r>
            <a:r>
              <a:rPr lang="en-US" i="0" dirty="0">
                <a:latin typeface="Times New Roman" charset="0"/>
                <a:ea typeface="Times New Roman" charset="0"/>
                <a:cs typeface="Times New Roman" charset="0"/>
              </a:rPr>
              <a:t>0.1HZ</a:t>
            </a:r>
            <a:endParaRPr lang="en-US" i="0" baseline="-25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91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455880" y="1220814"/>
            <a:ext cx="3842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On customer side: </a:t>
            </a:r>
          </a:p>
          <a:p>
            <a:r>
              <a:rPr lang="en-US" dirty="0">
                <a:latin typeface="Times New Roman"/>
                <a:cs typeface="Times New Roman"/>
              </a:rPr>
              <a:t>Sensitive electronic devices.</a:t>
            </a:r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030" y="1200264"/>
            <a:ext cx="2477151" cy="2603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267113" y="3893111"/>
            <a:ext cx="7694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On the grid:</a:t>
            </a:r>
          </a:p>
          <a:p>
            <a:r>
              <a:rPr lang="en-US" dirty="0">
                <a:latin typeface="Times New Roman"/>
                <a:cs typeface="Times New Roman"/>
              </a:rPr>
              <a:t>Shed the loads or the generations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Reliability and security of the system.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775" y="2093185"/>
            <a:ext cx="2402994" cy="17999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060" y="4539442"/>
            <a:ext cx="2717829" cy="18361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90375" y="6400747"/>
            <a:ext cx="3033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30-July-2012 and 31-July-2012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03" y="1885062"/>
            <a:ext cx="1810687" cy="19186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03" y="4620066"/>
            <a:ext cx="2807345" cy="188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2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2409635" y="392668"/>
            <a:ext cx="2307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CASE STUDIES: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" y="1048100"/>
            <a:ext cx="8755052" cy="4985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  <a:latin typeface="Times New Roman"/>
                <a:ea typeface="ＭＳ 明朝"/>
              </a:rPr>
              <a:t>Frequency Stability Study for Bornholm Island </a:t>
            </a:r>
            <a:r>
              <a:rPr lang="en-US" dirty="0">
                <a:effectLst/>
                <a:latin typeface="Times New Roman"/>
                <a:ea typeface="ＭＳ 明朝"/>
              </a:rPr>
              <a:t>(2007)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</a:t>
            </a:r>
            <a:endParaRPr lang="en-US" sz="2000" dirty="0"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effectLst/>
                <a:latin typeface="Times New Roman"/>
                <a:ea typeface="ＭＳ 明朝"/>
              </a:rPr>
              <a:t>Bornholm is a Danish island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/>
              <a:ea typeface="ＭＳ 明朝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effectLst/>
              <a:latin typeface="Times New Roman"/>
              <a:ea typeface="ＭＳ 明朝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/>
              <a:ea typeface="ＭＳ 明朝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</a:rPr>
              <a:t>Bornholm 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Minimum</a:t>
            </a:r>
            <a:r>
              <a:rPr lang="en-US" dirty="0">
                <a:effectLst/>
                <a:latin typeface="Times New Roman"/>
                <a:ea typeface="ＭＳ 明朝"/>
              </a:rPr>
              <a:t> load </a:t>
            </a:r>
            <a:r>
              <a:rPr lang="en-US" b="1" dirty="0">
                <a:effectLst/>
                <a:latin typeface="Times New Roman"/>
                <a:ea typeface="ＭＳ 明朝"/>
              </a:rPr>
              <a:t>13MW</a:t>
            </a:r>
            <a:r>
              <a:rPr lang="en-US" dirty="0">
                <a:effectLst/>
                <a:latin typeface="Times New Roman"/>
                <a:ea typeface="ＭＳ 明朝"/>
              </a:rPr>
              <a:t> peak load </a:t>
            </a:r>
            <a:r>
              <a:rPr lang="en-US" b="1" dirty="0">
                <a:effectLst/>
                <a:latin typeface="Times New Roman"/>
                <a:ea typeface="ＭＳ 明朝"/>
              </a:rPr>
              <a:t>63MW</a:t>
            </a:r>
            <a:r>
              <a:rPr lang="en-US" dirty="0">
                <a:effectLst/>
                <a:latin typeface="Times New Roman"/>
                <a:ea typeface="ＭＳ 明朝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</a:rPr>
              <a:t>AC submarine cable to Sweden </a:t>
            </a:r>
            <a:r>
              <a:rPr lang="en-US" b="1" dirty="0">
                <a:effectLst/>
                <a:latin typeface="Times New Roman"/>
                <a:ea typeface="ＭＳ 明朝"/>
              </a:rPr>
              <a:t>60MW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</a:rPr>
              <a:t>F</a:t>
            </a:r>
            <a:r>
              <a:rPr lang="en-US" dirty="0">
                <a:effectLst/>
                <a:latin typeface="Times New Roman"/>
                <a:ea typeface="ＭＳ 明朝"/>
              </a:rPr>
              <a:t>ossil-fueled units </a:t>
            </a:r>
            <a:r>
              <a:rPr lang="en-US" b="1" dirty="0">
                <a:effectLst/>
                <a:latin typeface="Times New Roman"/>
                <a:ea typeface="ＭＳ 明朝"/>
              </a:rPr>
              <a:t>35MW</a:t>
            </a:r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Standby units 25</a:t>
            </a:r>
            <a:r>
              <a:rPr lang="en-US" b="1" dirty="0">
                <a:effectLst/>
                <a:latin typeface="Times New Roman"/>
                <a:ea typeface="ＭＳ 明朝"/>
              </a:rPr>
              <a:t>MW</a:t>
            </a:r>
          </a:p>
          <a:p>
            <a:r>
              <a:rPr lang="en-US" dirty="0">
                <a:latin typeface="Times New Roman"/>
                <a:ea typeface="ＭＳ 明朝"/>
              </a:rPr>
              <a:t>W</a:t>
            </a:r>
            <a:r>
              <a:rPr lang="en-US" dirty="0">
                <a:effectLst/>
                <a:latin typeface="Times New Roman"/>
                <a:ea typeface="ＭＳ 明朝"/>
              </a:rPr>
              <a:t>ind </a:t>
            </a:r>
            <a:r>
              <a:rPr lang="en-US" b="1" dirty="0">
                <a:effectLst/>
                <a:latin typeface="Times New Roman"/>
                <a:ea typeface="ＭＳ 明朝"/>
              </a:rPr>
              <a:t>30MW </a:t>
            </a:r>
            <a:endParaRPr lang="en-US" dirty="0"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Biogas </a:t>
            </a:r>
            <a:r>
              <a:rPr lang="en-US" b="1" dirty="0">
                <a:latin typeface="Times New Roman"/>
                <a:ea typeface="ＭＳ 明朝"/>
              </a:rPr>
              <a:t>2</a:t>
            </a:r>
            <a:r>
              <a:rPr lang="en-US" b="1" dirty="0">
                <a:effectLst/>
                <a:latin typeface="Times New Roman"/>
                <a:ea typeface="ＭＳ 明朝"/>
              </a:rPr>
              <a:t>MW</a:t>
            </a:r>
          </a:p>
          <a:p>
            <a:endParaRPr lang="en-US" b="1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latin typeface="Times New Roman"/>
                <a:ea typeface="ＭＳ 明朝"/>
              </a:rPr>
              <a:t>Voltage levels </a:t>
            </a:r>
            <a:r>
              <a:rPr lang="en-US" dirty="0">
                <a:effectLst/>
                <a:latin typeface="Times New Roman"/>
                <a:ea typeface="ＭＳ 明朝"/>
              </a:rPr>
              <a:t>60kV, 10kV and 0.4kV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657" y="1281422"/>
            <a:ext cx="2886343" cy="23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6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2409635" y="392668"/>
            <a:ext cx="2307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CASE STUDIES: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649133"/>
            <a:ext cx="90296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 2007 DTU</a:t>
            </a:r>
            <a:r>
              <a:rPr lang="en-US" dirty="0">
                <a:effectLst/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researchers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 carried out the study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r>
              <a:rPr lang="en-US" dirty="0">
                <a:latin typeface="Times New Roman"/>
                <a:cs typeface="Times New Roman"/>
              </a:rPr>
              <a:t>From 11 to 14 September 2007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-AC cable disconnected 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 </a:t>
            </a:r>
            <a:r>
              <a:rPr lang="en-US" dirty="0">
                <a:effectLst/>
                <a:latin typeface="Times New Roman"/>
                <a:ea typeface="ＭＳ 明朝"/>
              </a:rPr>
              <a:t>island operation mode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984368"/>
            <a:ext cx="4932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Study conducted on frequency stability impacts: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869099"/>
            <a:ext cx="542574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/>
                <a:ea typeface="ＭＳ 明朝"/>
              </a:rPr>
              <a:t>The recorded data was taken every 20ms by PMUs.</a:t>
            </a:r>
          </a:p>
          <a:p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latin typeface="Times New Roman"/>
                <a:ea typeface="ＭＳ 明朝"/>
              </a:rPr>
              <a:t>C</a:t>
            </a:r>
            <a:r>
              <a:rPr lang="en-US" dirty="0">
                <a:effectLst/>
                <a:latin typeface="Times New Roman"/>
                <a:ea typeface="ＭＳ 明朝"/>
              </a:rPr>
              <a:t>omparison between the frequency deviations of </a:t>
            </a:r>
            <a:r>
              <a:rPr lang="en-US" b="1" dirty="0">
                <a:effectLst/>
                <a:latin typeface="Times New Roman"/>
                <a:ea typeface="ＭＳ 明朝"/>
              </a:rPr>
              <a:t>Nordic grid </a:t>
            </a:r>
            <a:r>
              <a:rPr lang="en-US" dirty="0">
                <a:effectLst/>
                <a:latin typeface="Times New Roman"/>
                <a:ea typeface="ＭＳ 明朝"/>
              </a:rPr>
              <a:t>and </a:t>
            </a:r>
            <a:r>
              <a:rPr lang="en-US" b="1" dirty="0">
                <a:effectLst/>
                <a:latin typeface="Times New Roman"/>
                <a:ea typeface="ＭＳ 明朝"/>
              </a:rPr>
              <a:t>Bornholm</a:t>
            </a:r>
            <a:r>
              <a:rPr lang="en-US" dirty="0">
                <a:effectLst/>
                <a:latin typeface="Times New Roman"/>
                <a:ea typeface="ＭＳ 明朝"/>
              </a:rPr>
              <a:t> islanding operation mode with only 6MW wind power (out of 30MW)</a:t>
            </a:r>
            <a:r>
              <a:rPr lang="en-US" sz="2400" dirty="0">
                <a:effectLst/>
                <a:latin typeface="Times New Roman"/>
                <a:ea typeface="ＭＳ 明朝"/>
              </a:rPr>
              <a:t>!</a:t>
            </a:r>
            <a:r>
              <a:rPr lang="en-US" dirty="0">
                <a:effectLst/>
                <a:latin typeface="Times New Roman"/>
                <a:ea typeface="ＭＳ 明朝"/>
              </a:rPr>
              <a:t> </a:t>
            </a:r>
          </a:p>
          <a:p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Conclusion 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 </a:t>
            </a:r>
            <a:r>
              <a:rPr lang="en-US" dirty="0">
                <a:latin typeface="Times New Roman"/>
                <a:ea typeface="ＭＳ 明朝"/>
                <a:sym typeface="Wingdings"/>
              </a:rPr>
              <a:t>I</a:t>
            </a:r>
            <a:r>
              <a:rPr lang="en-US" dirty="0">
                <a:effectLst/>
                <a:latin typeface="Times New Roman"/>
                <a:ea typeface="ＭＳ 明朝"/>
              </a:rPr>
              <a:t>slanding mode was suffering from      several fluctuations in frequency.</a:t>
            </a:r>
            <a:r>
              <a:rPr lang="en-US" dirty="0">
                <a:effectLst/>
              </a:rPr>
              <a:t> 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906" y="1907154"/>
            <a:ext cx="3718252" cy="253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6142756"/>
            <a:ext cx="8545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Note</a:t>
            </a:r>
            <a:r>
              <a:rPr lang="en-US" dirty="0">
                <a:latin typeface="Times New Roman"/>
                <a:cs typeface="Times New Roman"/>
              </a:rPr>
              <a:t>: According Nordic Grid regulations the frequency deviation </a:t>
            </a:r>
            <a:r>
              <a:rPr lang="en-US" b="1" dirty="0">
                <a:latin typeface="Times New Roman"/>
                <a:cs typeface="Times New Roman"/>
              </a:rPr>
              <a:t>&lt; 0.1Hz</a:t>
            </a:r>
            <a:r>
              <a:rPr lang="en-US" dirty="0">
                <a:latin typeface="Times New Roman"/>
                <a:cs typeface="Times New Roman"/>
              </a:rPr>
              <a:t> around 50Hz</a:t>
            </a:r>
            <a:r>
              <a:rPr lang="en-US" dirty="0">
                <a:effectLst/>
                <a:latin typeface="Times New Roman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63500" y="4559695"/>
            <a:ext cx="345955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/>
                <a:cs typeface="Times New Roman"/>
              </a:rPr>
              <a:t>With </a:t>
            </a:r>
            <a:r>
              <a:rPr lang="en-US" b="1" dirty="0">
                <a:latin typeface="Times New Roman"/>
                <a:cs typeface="Times New Roman"/>
              </a:rPr>
              <a:t>6MW </a:t>
            </a:r>
            <a:r>
              <a:rPr lang="en-US" dirty="0">
                <a:latin typeface="Times New Roman"/>
                <a:cs typeface="Times New Roman"/>
              </a:rPr>
              <a:t>out of </a:t>
            </a:r>
            <a:r>
              <a:rPr lang="en-US" b="1" dirty="0">
                <a:latin typeface="Times New Roman"/>
                <a:cs typeface="Times New Roman"/>
              </a:rPr>
              <a:t>30 MW </a:t>
            </a:r>
            <a:r>
              <a:rPr lang="en-US" dirty="0">
                <a:latin typeface="Times New Roman"/>
                <a:cs typeface="Times New Roman"/>
              </a:rPr>
              <a:t>of wind power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serious problem of  frequency deviation This level of deviation is not allowed in Nordic Grid (2007)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7742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2409635" y="392668"/>
            <a:ext cx="2307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CASE STUDIES: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299" y="1281422"/>
            <a:ext cx="8755053" cy="4108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  <a:latin typeface="Times New Roman"/>
                <a:ea typeface="ＭＳ 明朝"/>
              </a:rPr>
              <a:t>Frequency Stability Study for Sicily Island </a:t>
            </a:r>
            <a:r>
              <a:rPr lang="en-US" dirty="0">
                <a:latin typeface="Times New Roman"/>
                <a:ea typeface="ＭＳ 明朝"/>
                <a:cs typeface="Times New Roman"/>
              </a:rPr>
              <a:t>(2012)</a:t>
            </a:r>
            <a:endParaRPr lang="en-US" sz="2000" dirty="0"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effectLst/>
                <a:latin typeface="Times New Roman"/>
                <a:ea typeface="ＭＳ 明朝"/>
              </a:rPr>
              <a:t>Sicily is an Italian island in Mediterranean sea.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/>
              <a:ea typeface="ＭＳ 明朝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</a:rPr>
              <a:t>Sicily’ monthly load ranges 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(2.3GW - 3.7GW</a:t>
            </a:r>
            <a:r>
              <a:rPr lang="en-US" dirty="0">
                <a:latin typeface="Times New Roman"/>
                <a:ea typeface="ＭＳ 明朝"/>
                <a:sym typeface="Wingdings"/>
              </a:rPr>
              <a:t>)</a:t>
            </a:r>
            <a:endParaRPr lang="en-US" dirty="0">
              <a:effectLst/>
              <a:latin typeface="Times New Roman"/>
              <a:ea typeface="ＭＳ 明朝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</a:rPr>
              <a:t>AC submarine cable to Italy </a:t>
            </a:r>
            <a:r>
              <a:rPr lang="en-US" b="1" dirty="0">
                <a:effectLst/>
                <a:latin typeface="Times New Roman"/>
                <a:ea typeface="ＭＳ 明朝"/>
              </a:rPr>
              <a:t>1GW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</a:rPr>
              <a:t>F</a:t>
            </a:r>
            <a:r>
              <a:rPr lang="en-US" dirty="0">
                <a:effectLst/>
                <a:latin typeface="Times New Roman"/>
                <a:ea typeface="ＭＳ 明朝"/>
              </a:rPr>
              <a:t>ossil-fueled units </a:t>
            </a:r>
            <a:r>
              <a:rPr lang="en-US" b="1" dirty="0">
                <a:effectLst/>
                <a:latin typeface="Times New Roman"/>
                <a:ea typeface="ＭＳ 明朝"/>
              </a:rPr>
              <a:t>5.8GW</a:t>
            </a:r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latin typeface="Times New Roman"/>
                <a:ea typeface="ＭＳ 明朝"/>
              </a:rPr>
              <a:t>W</a:t>
            </a:r>
            <a:r>
              <a:rPr lang="en-US" dirty="0">
                <a:effectLst/>
                <a:latin typeface="Times New Roman"/>
                <a:ea typeface="ＭＳ 明朝"/>
              </a:rPr>
              <a:t>ind </a:t>
            </a:r>
            <a:r>
              <a:rPr lang="en-US" b="1" dirty="0">
                <a:latin typeface="Times New Roman"/>
                <a:ea typeface="ＭＳ 明朝"/>
              </a:rPr>
              <a:t>1.68G</a:t>
            </a:r>
            <a:r>
              <a:rPr lang="en-US" b="1" dirty="0">
                <a:effectLst/>
                <a:latin typeface="Times New Roman"/>
                <a:ea typeface="ＭＳ 明朝"/>
              </a:rPr>
              <a:t>W 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Hydropower plant </a:t>
            </a:r>
            <a:r>
              <a:rPr lang="en-US" b="1" dirty="0">
                <a:effectLst/>
                <a:latin typeface="Times New Roman"/>
                <a:ea typeface="ＭＳ 明朝"/>
              </a:rPr>
              <a:t>730MW</a:t>
            </a:r>
          </a:p>
          <a:p>
            <a:r>
              <a:rPr lang="en-US" dirty="0">
                <a:latin typeface="Times New Roman"/>
                <a:ea typeface="ＭＳ 明朝"/>
              </a:rPr>
              <a:t>PV Solar </a:t>
            </a:r>
            <a:r>
              <a:rPr lang="en-US" b="1" dirty="0">
                <a:effectLst/>
                <a:latin typeface="Times New Roman"/>
                <a:ea typeface="ＭＳ 明朝"/>
              </a:rPr>
              <a:t>864MW</a:t>
            </a:r>
            <a:endParaRPr lang="en-US" b="1" dirty="0"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Biomass </a:t>
            </a:r>
            <a:r>
              <a:rPr lang="en-US" b="1" dirty="0">
                <a:latin typeface="Times New Roman"/>
                <a:ea typeface="ＭＳ 明朝"/>
              </a:rPr>
              <a:t>54</a:t>
            </a:r>
            <a:r>
              <a:rPr lang="en-US" b="1" dirty="0">
                <a:effectLst/>
                <a:latin typeface="Times New Roman"/>
                <a:ea typeface="ＭＳ 明朝"/>
              </a:rPr>
              <a:t>MW</a:t>
            </a:r>
          </a:p>
          <a:p>
            <a:endParaRPr lang="en-US" b="1" dirty="0">
              <a:effectLst/>
              <a:latin typeface="Times New Roman"/>
              <a:ea typeface="ＭＳ 明朝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552" y="1281422"/>
            <a:ext cx="2336800" cy="25527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6692039" y="4345470"/>
            <a:ext cx="1967885" cy="1997205"/>
            <a:chOff x="6692039" y="4345470"/>
            <a:chExt cx="1967885" cy="199720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l="25123" r="759"/>
            <a:stretch/>
          </p:blipFill>
          <p:spPr>
            <a:xfrm>
              <a:off x="6692039" y="4345470"/>
              <a:ext cx="1967885" cy="1997205"/>
            </a:xfrm>
            <a:prstGeom prst="rect">
              <a:avLst/>
            </a:prstGeom>
          </p:spPr>
        </p:pic>
        <p:sp>
          <p:nvSpPr>
            <p:cNvPr id="4" name="Oval 3"/>
            <p:cNvSpPr/>
            <p:nvPr/>
          </p:nvSpPr>
          <p:spPr>
            <a:xfrm>
              <a:off x="7104723" y="5758684"/>
              <a:ext cx="88809" cy="7104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603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2409635" y="392668"/>
            <a:ext cx="2307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CASE STUDIES: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353700"/>
            <a:ext cx="91440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Note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: </a:t>
            </a:r>
            <a:r>
              <a:rPr lang="en-US" dirty="0">
                <a:latin typeface="Times New Roman"/>
                <a:ea typeface="ＭＳ 明朝"/>
                <a:cs typeface="Times New Roman"/>
              </a:rPr>
              <a:t>B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efore 31 May 2012 the over/under frequency trips set to 50.3 and 49.7 Hz for PVs. 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endParaRPr lang="en-US" b="1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The incident: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In 18 May 2011,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 system is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operating as </a:t>
            </a:r>
            <a:r>
              <a:rPr lang="en-US" dirty="0">
                <a:latin typeface="Times New Roman"/>
                <a:ea typeface="ＭＳ 明朝"/>
                <a:cs typeface="Times New Roman"/>
              </a:rPr>
              <a:t>an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islanding mode,  AC link was under maintenance.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150 MW generating unit at S. 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</a:rPr>
              <a:t>Filippo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del 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</a:rPr>
              <a:t>Mela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power 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</a:rPr>
              <a:t>plant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</a:rPr>
              <a:t>shed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down. 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frequency decline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49.7Hz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PVs of 200MW is also tripped 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frequency decline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49Hz. (UFLS)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180MW  (Frequency restored)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984368"/>
            <a:ext cx="6212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Study conducted on frequency deviation after a real incident:</a:t>
            </a:r>
          </a:p>
        </p:txBody>
      </p:sp>
      <p:pic>
        <p:nvPicPr>
          <p:cNvPr id="13" name="Picture 1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077" y="3483213"/>
            <a:ext cx="4898301" cy="3334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2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impacts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2409635" y="392668"/>
            <a:ext cx="2307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CASE STUDIES: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299" y="1092489"/>
            <a:ext cx="8755053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/>
                <a:ea typeface="ＭＳ 明朝"/>
                <a:cs typeface="Times New Roman"/>
              </a:rPr>
              <a:t>Frequency Stability Study for Hawaii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(2010)</a:t>
            </a:r>
            <a:endParaRPr lang="en-US" sz="2000" dirty="0">
              <a:latin typeface="Cambria"/>
              <a:ea typeface="ＭＳ 明朝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Hawaiian Electric Company (HECO) is the main electric utility since 1908 in Hawaii.  Subsidiaries Hawaii Electric Light (HELCO) and Maui Electric (MECO).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Times New Roman"/>
              <a:ea typeface="ＭＳ 明朝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Times New Roman"/>
              <a:ea typeface="ＭＳ 明朝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Cambria"/>
              <a:ea typeface="ＭＳ 明朝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HELCO 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Minimum</a:t>
            </a:r>
            <a:r>
              <a:rPr lang="en-US" dirty="0">
                <a:effectLst/>
                <a:latin typeface="Times New Roman"/>
                <a:ea typeface="ＭＳ 明朝"/>
              </a:rPr>
              <a:t> load</a:t>
            </a:r>
            <a:r>
              <a:rPr lang="en-US" b="1" dirty="0">
                <a:effectLst/>
                <a:latin typeface="Times New Roman"/>
                <a:ea typeface="ＭＳ 明朝"/>
              </a:rPr>
              <a:t> 90MW </a:t>
            </a:r>
            <a:r>
              <a:rPr lang="en-US" dirty="0">
                <a:effectLst/>
                <a:latin typeface="Times New Roman"/>
                <a:ea typeface="ＭＳ 明朝"/>
              </a:rPr>
              <a:t>peak load </a:t>
            </a:r>
            <a:r>
              <a:rPr lang="en-US" b="1" dirty="0">
                <a:effectLst/>
                <a:latin typeface="Times New Roman"/>
                <a:ea typeface="ＭＳ 明朝"/>
              </a:rPr>
              <a:t>191MW</a:t>
            </a:r>
            <a:r>
              <a:rPr lang="en-US" dirty="0">
                <a:effectLst/>
                <a:latin typeface="Times New Roman"/>
                <a:ea typeface="ＭＳ 明朝"/>
              </a:rPr>
              <a:t>. </a:t>
            </a:r>
          </a:p>
          <a:p>
            <a:r>
              <a:rPr lang="en-US" dirty="0">
                <a:latin typeface="Times New Roman"/>
                <a:ea typeface="ＭＳ 明朝"/>
              </a:rPr>
              <a:t>F</a:t>
            </a:r>
            <a:r>
              <a:rPr lang="en-US" dirty="0">
                <a:effectLst/>
                <a:latin typeface="Times New Roman"/>
                <a:ea typeface="ＭＳ 明朝"/>
              </a:rPr>
              <a:t>ossil-fueled units fleet including steam, combined-cycle gas, and diesel turbines </a:t>
            </a:r>
            <a:r>
              <a:rPr lang="en-US" b="1" dirty="0">
                <a:effectLst/>
                <a:latin typeface="Times New Roman"/>
                <a:ea typeface="ＭＳ 明朝"/>
              </a:rPr>
              <a:t>200MW</a:t>
            </a:r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Geothermal plants </a:t>
            </a:r>
            <a:r>
              <a:rPr lang="en-US" b="1" dirty="0">
                <a:effectLst/>
                <a:latin typeface="Times New Roman"/>
                <a:ea typeface="ＭＳ 明朝"/>
              </a:rPr>
              <a:t>38MW</a:t>
            </a:r>
          </a:p>
          <a:p>
            <a:r>
              <a:rPr lang="en-US" dirty="0">
                <a:latin typeface="Times New Roman"/>
                <a:ea typeface="ＭＳ 明朝"/>
              </a:rPr>
              <a:t>W</a:t>
            </a:r>
            <a:r>
              <a:rPr lang="en-US" dirty="0">
                <a:effectLst/>
                <a:latin typeface="Times New Roman"/>
                <a:ea typeface="ＭＳ 明朝"/>
              </a:rPr>
              <a:t>ind </a:t>
            </a:r>
            <a:r>
              <a:rPr lang="en-US" b="1" dirty="0">
                <a:effectLst/>
                <a:latin typeface="Times New Roman"/>
                <a:ea typeface="ＭＳ 明朝"/>
              </a:rPr>
              <a:t>31MW </a:t>
            </a:r>
            <a:endParaRPr lang="en-US" dirty="0"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Hydropower </a:t>
            </a:r>
            <a:r>
              <a:rPr lang="en-US" b="1" dirty="0">
                <a:effectLst/>
                <a:latin typeface="Times New Roman"/>
                <a:ea typeface="ＭＳ 明朝"/>
              </a:rPr>
              <a:t>17MW</a:t>
            </a:r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PV distributed generation</a:t>
            </a:r>
            <a:r>
              <a:rPr lang="en-US" b="1" dirty="0">
                <a:effectLst/>
                <a:latin typeface="Times New Roman"/>
                <a:ea typeface="ＭＳ 明朝"/>
              </a:rPr>
              <a:t> &gt;38MW + 0.5 MW </a:t>
            </a:r>
            <a:r>
              <a:rPr lang="en-US" dirty="0">
                <a:effectLst/>
                <a:latin typeface="Times New Roman"/>
                <a:ea typeface="ＭＳ 明朝"/>
              </a:rPr>
              <a:t>CSP plant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52" y="2565059"/>
            <a:ext cx="33782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14301" y="987634"/>
            <a:ext cx="87550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The following are the facilities that deal with the roots of frequency deviation to mitigate it.</a:t>
            </a:r>
            <a:r>
              <a:rPr lang="en-US" dirty="0">
                <a:effectLst/>
                <a:latin typeface="Times New Roman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" y="1483619"/>
            <a:ext cx="837205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AutoNum type="alphaUcPeriod"/>
            </a:pPr>
            <a:r>
              <a:rPr lang="en-US" b="1" dirty="0">
                <a:latin typeface="Times New Roman"/>
                <a:cs typeface="Times New Roman"/>
              </a:rPr>
              <a:t>Generation and Load Shedding</a:t>
            </a:r>
            <a:endParaRPr lang="en-US" dirty="0">
              <a:latin typeface="Times New Roman"/>
              <a:cs typeface="Times New Roman"/>
            </a:endParaRPr>
          </a:p>
          <a:p>
            <a:pPr lvl="0"/>
            <a:r>
              <a:rPr lang="en-US" dirty="0">
                <a:latin typeface="Times New Roman"/>
                <a:cs typeface="Times New Roman"/>
              </a:rPr>
              <a:t>   </a:t>
            </a:r>
          </a:p>
          <a:p>
            <a:pPr lvl="0"/>
            <a:r>
              <a:rPr lang="en-US" sz="2000" i="1" dirty="0">
                <a:latin typeface="Times New Roman"/>
                <a:cs typeface="Times New Roman"/>
              </a:rPr>
              <a:t>Sacrifice the some to Save the all </a:t>
            </a:r>
            <a:r>
              <a:rPr lang="en-US" dirty="0">
                <a:latin typeface="Times New Roman"/>
                <a:cs typeface="Times New Roman"/>
              </a:rPr>
              <a:t>(it</a:t>
            </a:r>
            <a:r>
              <a:rPr lang="fr-FR" dirty="0">
                <a:latin typeface="Times New Roman"/>
                <a:cs typeface="Times New Roman"/>
              </a:rPr>
              <a:t>’</a:t>
            </a:r>
            <a:r>
              <a:rPr lang="en-US" dirty="0">
                <a:latin typeface="Times New Roman"/>
                <a:cs typeface="Times New Roman"/>
              </a:rPr>
              <a:t>s a trade off).</a:t>
            </a:r>
          </a:p>
          <a:p>
            <a:pPr lvl="0"/>
            <a:endParaRPr lang="en-US" dirty="0">
              <a:latin typeface="Times New Roman"/>
              <a:cs typeface="Times New Roman"/>
            </a:endParaRPr>
          </a:p>
          <a:p>
            <a:pPr lvl="0"/>
            <a:r>
              <a:rPr lang="en-US" dirty="0">
                <a:latin typeface="Times New Roman"/>
                <a:cs typeface="Times New Roman"/>
              </a:rPr>
              <a:t>It should be the last choice to maintain the frequency stability. </a:t>
            </a:r>
          </a:p>
          <a:p>
            <a:r>
              <a:rPr lang="en-US" dirty="0">
                <a:latin typeface="Times New Roman"/>
                <a:cs typeface="Times New Roman"/>
              </a:rPr>
              <a:t>Because:  loss of generations or load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</a:t>
            </a:r>
            <a:r>
              <a:rPr lang="en-US" dirty="0">
                <a:latin typeface="Times New Roman"/>
                <a:cs typeface="Times New Roman"/>
              </a:rPr>
              <a:t>the security and the reliability of the system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B. Keeping Some Inertia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>
              <a:effectLst/>
              <a:latin typeface="Times New Roman"/>
              <a:ea typeface="ＭＳ 明朝"/>
              <a:cs typeface="Times New Roman"/>
            </a:endParaRPr>
          </a:p>
          <a:p>
            <a:pPr lvl="0"/>
            <a:r>
              <a:rPr lang="en-US" sz="2000" dirty="0">
                <a:latin typeface="Times New Roman"/>
                <a:cs typeface="Times New Roman"/>
              </a:rPr>
              <a:t>In Denmark, decentralized combined heat plants (DCHP) are located beside the load centers and they are adding inertia to the system. </a:t>
            </a:r>
          </a:p>
          <a:p>
            <a:pPr lvl="0"/>
            <a:endParaRPr lang="en-US" sz="2000" dirty="0">
              <a:latin typeface="Times New Roman"/>
              <a:cs typeface="Times New Roman"/>
            </a:endParaRPr>
          </a:p>
          <a:p>
            <a:pPr lvl="0"/>
            <a:r>
              <a:rPr lang="en-US" sz="2000" dirty="0">
                <a:latin typeface="Times New Roman"/>
                <a:cs typeface="Times New Roman"/>
              </a:rPr>
              <a:t>Hawaii Electric Light HELCO keeps at least two of its three steam units online for all load levels. </a:t>
            </a:r>
          </a:p>
          <a:p>
            <a:pPr lvl="0"/>
            <a:endParaRPr lang="en-US" sz="2000" dirty="0">
              <a:latin typeface="Times New Roman"/>
              <a:cs typeface="Times New Roman"/>
            </a:endParaRPr>
          </a:p>
          <a:p>
            <a:pPr lvl="0"/>
            <a:r>
              <a:rPr lang="en-US" sz="2000" dirty="0">
                <a:latin typeface="Times New Roman"/>
                <a:cs typeface="Times New Roman"/>
              </a:rPr>
              <a:t>Moreover, fast-start gas generators </a:t>
            </a:r>
            <a:r>
              <a:rPr lang="en-US" sz="2000" dirty="0">
                <a:latin typeface="Times New Roman"/>
                <a:cs typeface="Times New Roman"/>
                <a:sym typeface="Wingdings"/>
              </a:rPr>
              <a:t> frequency regulation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846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359831" y="999949"/>
            <a:ext cx="3852337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C. Modifying AGC’s Control Scheme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9831" y="1521533"/>
            <a:ext cx="8388576" cy="256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In case of including variable generations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 increase </a:t>
            </a:r>
            <a:r>
              <a:rPr lang="en-US" dirty="0" err="1">
                <a:effectLst/>
                <a:latin typeface="Times New Roman"/>
                <a:ea typeface="ＭＳ 明朝"/>
                <a:cs typeface="Times New Roman"/>
                <a:sym typeface="Wingdings"/>
              </a:rPr>
              <a:t>deadband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 of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AGC (Region of no-control) to smooth the frequency response. </a:t>
            </a:r>
          </a:p>
          <a:p>
            <a:pPr algn="just">
              <a:lnSpc>
                <a:spcPct val="150000"/>
              </a:lnSpc>
            </a:pPr>
            <a:endParaRPr lang="en-US" dirty="0">
              <a:effectLst/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  <a:cs typeface="Times New Roman"/>
              </a:rPr>
              <a:t>U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sing the droop response of the turbine governor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small frequency variations, AGC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more affective frequency deviations.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These procedures could bring some risk of not response quickly for severe faults.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" y="4840657"/>
            <a:ext cx="74501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 2006 and 2007, two wind installed in Hawaii island.</a:t>
            </a:r>
          </a:p>
          <a:p>
            <a:r>
              <a:rPr lang="en-US" dirty="0">
                <a:latin typeface="Times New Roman"/>
                <a:cs typeface="Times New Roman"/>
              </a:rPr>
              <a:t>AGC modified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</a:t>
            </a:r>
            <a:r>
              <a:rPr lang="en-US" dirty="0">
                <a:latin typeface="Times New Roman"/>
                <a:cs typeface="Times New Roman"/>
              </a:rPr>
              <a:t>To overcome the over-control issue in AGC resulting</a:t>
            </a:r>
          </a:p>
          <a:p>
            <a:r>
              <a:rPr lang="en-US" dirty="0">
                <a:latin typeface="Times New Roman"/>
                <a:cs typeface="Times New Roman"/>
              </a:rPr>
              <a:t>from wind fluctuations. AGC’s </a:t>
            </a:r>
            <a:r>
              <a:rPr lang="en-US" dirty="0" err="1">
                <a:latin typeface="Times New Roman"/>
                <a:cs typeface="Times New Roman"/>
              </a:rPr>
              <a:t>deadband</a:t>
            </a:r>
            <a:r>
              <a:rPr lang="en-US" dirty="0">
                <a:latin typeface="Times New Roman"/>
                <a:cs typeface="Times New Roman"/>
              </a:rPr>
              <a:t> (no-control region) set to ±0.2 </a:t>
            </a:r>
          </a:p>
          <a:p>
            <a:r>
              <a:rPr lang="en-US" dirty="0">
                <a:latin typeface="Times New Roman"/>
                <a:cs typeface="Times New Roman"/>
              </a:rPr>
              <a:t>At excess energy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</a:t>
            </a:r>
            <a:r>
              <a:rPr lang="en-US" dirty="0">
                <a:latin typeface="Times New Roman"/>
                <a:cs typeface="Times New Roman"/>
              </a:rPr>
              <a:t> wind power curtailment is done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less frequency changes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379" y="4318375"/>
            <a:ext cx="2189621" cy="13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3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14300" y="999949"/>
            <a:ext cx="8919780" cy="22826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/>
                <a:ea typeface="ＭＳ 明朝"/>
                <a:cs typeface="Times New Roman"/>
              </a:rPr>
              <a:t>D</a:t>
            </a: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. Control of Inertial Response in Wind Turbines</a:t>
            </a: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b="1" dirty="0">
              <a:effectLst/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/>
                <a:ea typeface="ＭＳ 明朝"/>
                <a:cs typeface="Times New Roman"/>
              </a:rPr>
              <a:t>W</a:t>
            </a:r>
            <a:r>
              <a:rPr lang="en-US" sz="2000" dirty="0">
                <a:effectLst/>
                <a:latin typeface="Times New Roman"/>
                <a:ea typeface="ＭＳ 明朝"/>
                <a:cs typeface="Times New Roman"/>
              </a:rPr>
              <a:t>ind turbines a virtual inertia from the rotor shaft.</a:t>
            </a:r>
            <a:r>
              <a:rPr lang="en-US" sz="2000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 specific control techniques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effectLst/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effectLst/>
                <a:latin typeface="Times New Roman"/>
                <a:ea typeface="ＭＳ 明朝"/>
                <a:cs typeface="Times New Roman"/>
              </a:rPr>
              <a:t>GE </a:t>
            </a:r>
            <a:r>
              <a:rPr lang="en-US" sz="2000" dirty="0" err="1">
                <a:effectLst/>
                <a:latin typeface="Times New Roman"/>
                <a:ea typeface="ＭＳ 明朝"/>
                <a:cs typeface="Times New Roman"/>
              </a:rPr>
              <a:t>WindINERTIA</a:t>
            </a:r>
            <a:r>
              <a:rPr lang="en-US" sz="2000" dirty="0">
                <a:effectLst/>
                <a:latin typeface="Times New Roman"/>
                <a:ea typeface="ＭＳ 明朝"/>
                <a:cs typeface="Times New Roman"/>
              </a:rPr>
              <a:t> controller provides +</a:t>
            </a:r>
            <a:r>
              <a:rPr lang="en-US" sz="2000" dirty="0">
                <a:latin typeface="Times New Roman"/>
                <a:cs typeface="Times New Roman"/>
              </a:rPr>
              <a:t>provides +5% improving in frequency nadir.</a:t>
            </a:r>
            <a:r>
              <a:rPr lang="en-US" sz="2000" dirty="0">
                <a:effectLst/>
                <a:latin typeface="Times New Roman"/>
                <a:cs typeface="Times New Roman"/>
              </a:rPr>
              <a:t> </a:t>
            </a:r>
            <a:endParaRPr lang="en-US" sz="2000" dirty="0">
              <a:effectLst/>
              <a:latin typeface="Times New Roman"/>
              <a:ea typeface="ＭＳ 明朝"/>
              <a:cs typeface="Times New Roman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941960" y="3404737"/>
            <a:ext cx="4508477" cy="3172573"/>
            <a:chOff x="1941960" y="3243489"/>
            <a:chExt cx="4508477" cy="3172573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1960" y="3243489"/>
              <a:ext cx="4508477" cy="3172573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5563499" y="6007594"/>
              <a:ext cx="88693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7438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14300" y="971953"/>
            <a:ext cx="5110243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/>
                <a:ea typeface="ＭＳ 明朝"/>
                <a:cs typeface="Times New Roman"/>
              </a:rPr>
              <a:t>D</a:t>
            </a: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. Control of Inertial Response in Wind Turbines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  <a:r>
              <a:rPr lang="en-US" sz="2000" dirty="0">
                <a:effectLst/>
                <a:latin typeface="Times New Roman"/>
                <a:cs typeface="Times New Roman"/>
              </a:rPr>
              <a:t> </a:t>
            </a:r>
            <a:endParaRPr lang="en-US" sz="2000" dirty="0">
              <a:effectLst/>
              <a:latin typeface="Times New Roman"/>
              <a:ea typeface="ＭＳ 明朝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2083" r="20768"/>
          <a:stretch/>
        </p:blipFill>
        <p:spPr>
          <a:xfrm>
            <a:off x="1632768" y="2558450"/>
            <a:ext cx="5664290" cy="3854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2837" y="6251418"/>
            <a:ext cx="7821156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Times New Roman"/>
                <a:ea typeface="ＭＳ 明朝"/>
                <a:cs typeface="Times New Roman"/>
              </a:rPr>
              <a:t>If 30% and 60 % of wind turbines have inertial response in Sicily Island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" y="1612461"/>
            <a:ext cx="2295336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What If ? Scenario </a:t>
            </a:r>
          </a:p>
        </p:txBody>
      </p:sp>
    </p:spTree>
    <p:extLst>
      <p:ext uri="{BB962C8B-B14F-4D97-AF65-F5344CB8AC3E}">
        <p14:creationId xmlns:p14="http://schemas.microsoft.com/office/powerpoint/2010/main" val="371836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73984" y="1116167"/>
            <a:ext cx="9029700" cy="2562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E. Governor-like Response of Wind Turbines  (Wind Power Curtailment)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If the power form wind turbines is harnessed less than the available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  <a:sym typeface="Wingdings"/>
              </a:rPr>
              <a:t>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wind turbines can be controlled as a governor in thermal unit.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This control scheme of curtailed wind power is effective in frequency response and can arresting the frequency deviation.</a:t>
            </a:r>
            <a:endParaRPr lang="en-US" dirty="0"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</a:rPr>
              <a:t>This governor-like control can be carried out for large-scale solar plants as well. </a:t>
            </a:r>
            <a:endParaRPr lang="en-US" dirty="0">
              <a:effectLst/>
              <a:latin typeface="Times New Roman"/>
              <a:ea typeface="ＭＳ 明朝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654" y="3880721"/>
            <a:ext cx="3878613" cy="28563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161372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  <a:cs typeface="Times New Roman"/>
              </a:rPr>
              <a:t>But has economic impacts since the power is lost and not recoverable (not like thermal units)</a:t>
            </a:r>
            <a:endParaRPr lang="en-US" dirty="0">
              <a:latin typeface="Cambria"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4497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14300" y="1019928"/>
            <a:ext cx="377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F. Retrofitting the PV Solar Systems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" y="1612461"/>
            <a:ext cx="9029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Retrofitting / modifying  PV solar systems by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just including  upgraded the software settings used with inverters and simple new hardware adjustments.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</a:t>
            </a:r>
          </a:p>
          <a:p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This lead to smooth and flexible disconnect of PV solar systems from the grid.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503462"/>
            <a:ext cx="6572436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 2008 </a:t>
            </a:r>
            <a:r>
              <a:rPr lang="en-US" b="1" dirty="0">
                <a:latin typeface="Times New Roman"/>
                <a:cs typeface="Times New Roman"/>
              </a:rPr>
              <a:t>HELCO</a:t>
            </a:r>
            <a:r>
              <a:rPr lang="en-US" dirty="0">
                <a:latin typeface="Times New Roman"/>
                <a:cs typeface="Times New Roman"/>
              </a:rPr>
              <a:t> study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</a:t>
            </a:r>
            <a:r>
              <a:rPr lang="en-US" dirty="0">
                <a:latin typeface="Times New Roman"/>
                <a:cs typeface="Times New Roman"/>
              </a:rPr>
              <a:t> Revised IEEE1547.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Under frequency load shed (ULFS) 59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</a:t>
            </a:r>
            <a:r>
              <a:rPr lang="en-US" dirty="0">
                <a:latin typeface="Times New Roman"/>
                <a:cs typeface="Times New Roman"/>
              </a:rPr>
              <a:t>58.8Hz. </a:t>
            </a:r>
          </a:p>
          <a:p>
            <a:r>
              <a:rPr lang="en-US" dirty="0">
                <a:latin typeface="Times New Roman"/>
                <a:cs typeface="Times New Roman"/>
              </a:rPr>
              <a:t>Trip setting of PVs 59.3 Hz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 </a:t>
            </a:r>
            <a:r>
              <a:rPr lang="en-US" dirty="0">
                <a:latin typeface="Times New Roman"/>
                <a:cs typeface="Times New Roman"/>
              </a:rPr>
              <a:t>as close as possible to ULFS (59Hz).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736" y="3256217"/>
            <a:ext cx="2457264" cy="16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97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14300" y="1019928"/>
            <a:ext cx="377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F. Retrofitting the PV Solar Systems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" y="1612461"/>
            <a:ext cx="2295336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What If ? Scenario 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350" y="3072590"/>
            <a:ext cx="5765078" cy="315554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221730" y="6251418"/>
            <a:ext cx="8425885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000" dirty="0">
                <a:solidFill>
                  <a:prstClr val="black"/>
                </a:solidFill>
                <a:latin typeface="Times New Roman"/>
                <a:ea typeface="ＭＳ 明朝"/>
                <a:cs typeface="Times New Roman"/>
              </a:rPr>
              <a:t>If  30% , 50, and 100 % of PV retrofitting in Sicily Island</a:t>
            </a:r>
          </a:p>
        </p:txBody>
      </p:sp>
    </p:spTree>
    <p:extLst>
      <p:ext uri="{BB962C8B-B14F-4D97-AF65-F5344CB8AC3E}">
        <p14:creationId xmlns:p14="http://schemas.microsoft.com/office/powerpoint/2010/main" val="362811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24050" y="986888"/>
            <a:ext cx="2011826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G. Energy Storage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3532" y="1659801"/>
            <a:ext cx="8980467" cy="2862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/>
                <a:ea typeface="ＭＳ 明朝"/>
              </a:rPr>
              <a:t>Storage systems can provide more flexibility to the system operation and helps for support the frequency stability by decreasing the imbalance.</a:t>
            </a:r>
          </a:p>
          <a:p>
            <a:endParaRPr lang="en-US" dirty="0">
              <a:effectLst/>
              <a:latin typeface="Times New Roman"/>
              <a:ea typeface="ＭＳ 明朝"/>
            </a:endParaRPr>
          </a:p>
          <a:p>
            <a:r>
              <a:rPr lang="en-US" dirty="0">
                <a:latin typeface="Times New Roman"/>
                <a:ea typeface="ＭＳ 明朝"/>
              </a:rPr>
              <a:t>P</a:t>
            </a:r>
            <a:r>
              <a:rPr lang="en-US" dirty="0">
                <a:effectLst/>
                <a:latin typeface="Times New Roman"/>
                <a:ea typeface="ＭＳ 明朝"/>
              </a:rPr>
              <a:t>umping station storage;</a:t>
            </a:r>
          </a:p>
          <a:p>
            <a:r>
              <a:rPr lang="en-US" dirty="0">
                <a:latin typeface="Times New Roman"/>
                <a:ea typeface="ＭＳ 明朝"/>
              </a:rPr>
              <a:t>E</a:t>
            </a:r>
            <a:r>
              <a:rPr lang="en-US" dirty="0">
                <a:effectLst/>
                <a:latin typeface="Times New Roman"/>
                <a:ea typeface="ＭＳ 明朝"/>
              </a:rPr>
              <a:t>lectric vehicles;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Nickel-cadmium and Lithium-ion batteries;</a:t>
            </a:r>
          </a:p>
          <a:p>
            <a:r>
              <a:rPr lang="en-US" dirty="0">
                <a:latin typeface="Times New Roman"/>
                <a:ea typeface="ＭＳ 明朝"/>
              </a:rPr>
              <a:t>F</a:t>
            </a:r>
            <a:r>
              <a:rPr lang="en-US" dirty="0">
                <a:effectLst/>
                <a:latin typeface="Times New Roman"/>
                <a:ea typeface="ＭＳ 明朝"/>
              </a:rPr>
              <a:t>uel cells;</a:t>
            </a:r>
          </a:p>
          <a:p>
            <a:r>
              <a:rPr lang="en-US" dirty="0">
                <a:latin typeface="Times New Roman"/>
                <a:ea typeface="ＭＳ 明朝"/>
              </a:rPr>
              <a:t>A</a:t>
            </a:r>
            <a:r>
              <a:rPr lang="en-US" dirty="0">
                <a:effectLst/>
                <a:latin typeface="Times New Roman"/>
                <a:ea typeface="ＭＳ 明朝"/>
              </a:rPr>
              <a:t>ir-compressed reservoirs;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Flywheels; 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Superconducting magnetic energ</a:t>
            </a:r>
            <a:r>
              <a:rPr lang="en-US" dirty="0">
                <a:latin typeface="Times New Roman"/>
                <a:ea typeface="ＭＳ 明朝"/>
              </a:rPr>
              <a:t>y</a:t>
            </a:r>
            <a:r>
              <a:rPr lang="en-US" dirty="0">
                <a:effectLst/>
                <a:latin typeface="Times New Roman"/>
                <a:ea typeface="ＭＳ 明朝"/>
              </a:rPr>
              <a:t>.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9" y="4734235"/>
            <a:ext cx="3068134" cy="19054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301" y="2318962"/>
            <a:ext cx="2815280" cy="187344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199" y="4835016"/>
            <a:ext cx="2572652" cy="18046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859" y="4835016"/>
            <a:ext cx="2790196" cy="170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87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24050" y="986888"/>
            <a:ext cx="2011826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G. Energy Storage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942" y="2086700"/>
            <a:ext cx="5555938" cy="41414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409636" y="6191848"/>
            <a:ext cx="5301454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Times New Roman"/>
                <a:ea typeface="ＭＳ 明朝"/>
                <a:cs typeface="Times New Roman"/>
              </a:rPr>
              <a:t>If Pumping station and BESS are used in Sicily Island</a:t>
            </a:r>
          </a:p>
        </p:txBody>
      </p:sp>
      <p:sp>
        <p:nvSpPr>
          <p:cNvPr id="3" name="Rectangle 2"/>
          <p:cNvSpPr/>
          <p:nvPr/>
        </p:nvSpPr>
        <p:spPr>
          <a:xfrm rot="10800000" flipV="1">
            <a:off x="4367339" y="1471636"/>
            <a:ext cx="47766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Battery Energy Storage System (BESS)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" y="1612461"/>
            <a:ext cx="2295336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What If ? Scenario </a:t>
            </a:r>
          </a:p>
        </p:txBody>
      </p:sp>
    </p:spTree>
    <p:extLst>
      <p:ext uri="{BB962C8B-B14F-4D97-AF65-F5344CB8AC3E}">
        <p14:creationId xmlns:p14="http://schemas.microsoft.com/office/powerpoint/2010/main" val="7500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-31953" y="762000"/>
            <a:ext cx="5521539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/>
                <a:ea typeface="ＭＳ 明朝"/>
                <a:cs typeface="Times New Roman"/>
              </a:rPr>
              <a:t>H</a:t>
            </a: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. Demand Response and Energy Efficiency Measures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" y="1364773"/>
            <a:ext cx="82041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Times New Roman"/>
                <a:ea typeface="ＭＳ 明朝"/>
              </a:rPr>
              <a:t>Significant agricultural loads </a:t>
            </a:r>
            <a:r>
              <a:rPr lang="en-US" dirty="0">
                <a:sym typeface="Wingdings"/>
              </a:rPr>
              <a:t> </a:t>
            </a:r>
            <a:r>
              <a:rPr lang="en-US" dirty="0">
                <a:effectLst/>
                <a:latin typeface="Times New Roman"/>
                <a:ea typeface="ＭＳ 明朝"/>
              </a:rPr>
              <a:t>Water pumping load tripping</a:t>
            </a:r>
          </a:p>
          <a:p>
            <a:r>
              <a:rPr lang="en-US" dirty="0">
                <a:latin typeface="Times New Roman"/>
                <a:ea typeface="ＭＳ 明朝"/>
              </a:rPr>
              <a:t>Air conditions, water heaters.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0316" y="2034170"/>
            <a:ext cx="9029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Energy efficiency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</a:t>
            </a:r>
            <a:r>
              <a:rPr lang="en-US" dirty="0">
                <a:latin typeface="Times New Roman"/>
                <a:cs typeface="Times New Roman"/>
              </a:rPr>
              <a:t> the incandescent light </a:t>
            </a:r>
            <a:r>
              <a:rPr lang="en-US" dirty="0">
                <a:latin typeface="Times New Roman"/>
                <a:cs typeface="Times New Roman"/>
                <a:sym typeface="Wingdings"/>
              </a:rPr>
              <a:t></a:t>
            </a:r>
            <a:r>
              <a:rPr lang="en-US" dirty="0">
                <a:latin typeface="Times New Roman"/>
                <a:cs typeface="Times New Roman"/>
              </a:rPr>
              <a:t>compact fluorescent lights (CFL)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Using variable speed drives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503468"/>
            <a:ext cx="91440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marR="0" lvl="0" indent="-4000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romanUcPeriod"/>
            </a:pP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HVDC Links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r>
              <a:rPr lang="en-US" dirty="0">
                <a:effectLst/>
                <a:latin typeface="Times New Roman"/>
                <a:ea typeface="ＭＳ 明朝"/>
              </a:rPr>
              <a:t>No frequency or synchronization issues involved.   </a:t>
            </a:r>
          </a:p>
          <a:p>
            <a:r>
              <a:rPr lang="en-US" dirty="0">
                <a:effectLst/>
                <a:latin typeface="Times New Roman"/>
                <a:ea typeface="ＭＳ 明朝"/>
              </a:rPr>
              <a:t>                     </a:t>
            </a:r>
          </a:p>
          <a:p>
            <a:r>
              <a:rPr lang="en-US" dirty="0">
                <a:latin typeface="Times New Roman"/>
                <a:ea typeface="ＭＳ 明朝"/>
              </a:rPr>
              <a:t>Even with </a:t>
            </a:r>
            <a:r>
              <a:rPr lang="en-US" dirty="0">
                <a:effectLst/>
                <a:latin typeface="Times New Roman"/>
                <a:ea typeface="ＭＳ 明朝"/>
              </a:rPr>
              <a:t>AC links</a:t>
            </a:r>
            <a:r>
              <a:rPr lang="en-US" dirty="0">
                <a:effectLst/>
                <a:latin typeface="Times New Roman"/>
                <a:ea typeface="ＭＳ 明朝"/>
                <a:sym typeface="Wingdings"/>
              </a:rPr>
              <a:t> </a:t>
            </a:r>
            <a:r>
              <a:rPr lang="en-US" dirty="0">
                <a:effectLst/>
                <a:latin typeface="Times New Roman"/>
                <a:ea typeface="ＭＳ 明朝"/>
              </a:rPr>
              <a:t>with larger systems absorb frequency deviations efficiently</a:t>
            </a:r>
            <a:r>
              <a:rPr lang="en-US" dirty="0">
                <a:latin typeface="Times New Roman"/>
                <a:ea typeface="ＭＳ 明朝"/>
              </a:rPr>
              <a:t>.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02428" y="5401654"/>
            <a:ext cx="5655486" cy="1209346"/>
            <a:chOff x="272928" y="4750369"/>
            <a:chExt cx="8871072" cy="192258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2928" y="4750369"/>
              <a:ext cx="2136708" cy="41640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0742" y="4750369"/>
              <a:ext cx="6443258" cy="1922585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7501784" y="2381936"/>
            <a:ext cx="1633333" cy="2001191"/>
            <a:chOff x="7451672" y="2209025"/>
            <a:chExt cx="1633333" cy="200119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1672" y="2209025"/>
              <a:ext cx="1586874" cy="1426178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7471830" y="3625440"/>
              <a:ext cx="1613175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i="1" dirty="0">
                  <a:latin typeface="Times New Roman"/>
                  <a:ea typeface="ＭＳ 明朝"/>
                </a:rPr>
                <a:t>Gotland</a:t>
              </a:r>
              <a:r>
                <a:rPr lang="en-US" sz="1600" dirty="0">
                  <a:latin typeface="Times New Roman"/>
                  <a:ea typeface="ＭＳ 明朝"/>
                </a:rPr>
                <a:t> Island </a:t>
              </a:r>
            </a:p>
            <a:p>
              <a:pPr algn="ctr"/>
              <a:r>
                <a:rPr lang="en-US" sz="1600" dirty="0">
                  <a:latin typeface="Times New Roman"/>
                  <a:ea typeface="ＭＳ 明朝"/>
                </a:rPr>
                <a:t>HVDC link 1954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97597" y="4823202"/>
            <a:ext cx="2590800" cy="1813454"/>
            <a:chOff x="248913" y="4797548"/>
            <a:chExt cx="2590800" cy="1813452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8913" y="4845700"/>
              <a:ext cx="2590800" cy="17653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923701" y="4797548"/>
              <a:ext cx="102634" cy="122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6752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0316" y="854716"/>
            <a:ext cx="8869352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/>
                <a:ea typeface="ＭＳ 明朝"/>
                <a:cs typeface="Times New Roman"/>
              </a:rPr>
              <a:t>J</a:t>
            </a: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. Power System Stabilizer (PSS)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  <a:cs typeface="Times New Roman"/>
              </a:rPr>
              <a:t>Reduce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the oscillation in poorly damped inter-area.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And with fast response of governor-like wind turbines oscillation.</a:t>
            </a: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/>
                <a:ea typeface="ＭＳ 明朝"/>
                <a:cs typeface="Times New Roman"/>
              </a:rPr>
              <a:t>K</a:t>
            </a:r>
            <a:r>
              <a:rPr lang="en-US" b="1" dirty="0">
                <a:effectLst/>
                <a:latin typeface="Times New Roman"/>
                <a:ea typeface="ＭＳ 明朝"/>
                <a:cs typeface="Times New Roman"/>
              </a:rPr>
              <a:t>. Electronic Shock Absorber (ESA)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ESA is a device invented by Hawaiian electric company to smooth frequency from short-term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 wind power variations. Its mechanism is as a shock absorber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/>
                <a:ea typeface="ＭＳ 明朝"/>
                <a:cs typeface="Times New Roman"/>
              </a:rPr>
              <a:t>S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toring the excess energy during the period of surplus generation of wind power and release it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in the period of deficit wind power generation.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24" y="4663451"/>
            <a:ext cx="5310686" cy="110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08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Frequency deviation mitigations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14300" y="1068256"/>
            <a:ext cx="8513160" cy="4524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latin typeface="Times New Roman"/>
                <a:cs typeface="Times New Roman"/>
              </a:rPr>
              <a:t>L. Variable Generation Forecasting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Helps of keeping the power balance of the system and mitigate the problem </a:t>
            </a:r>
          </a:p>
          <a:p>
            <a:r>
              <a:rPr lang="en-US" dirty="0">
                <a:latin typeface="Times New Roman"/>
                <a:cs typeface="Times New Roman"/>
              </a:rPr>
              <a:t>of frequency stability.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lvl="0"/>
            <a:r>
              <a:rPr lang="en-US" b="1" dirty="0">
                <a:latin typeface="Times New Roman"/>
                <a:cs typeface="Times New Roman"/>
              </a:rPr>
              <a:t>M. Electricity Market Structure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Restructure the market for the frequency response.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Bids and offers between the participants at regulation marketing periods. 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Incentives for energy storage and demand response schemes.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Such strategies can be allowing more flexibility in balancing the power and hence improving the frequency stability.</a:t>
            </a:r>
          </a:p>
          <a:p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707" y="1793863"/>
            <a:ext cx="2358440" cy="13545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021" y="4977596"/>
            <a:ext cx="2819845" cy="182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52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Conclusions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14300" y="1054172"/>
            <a:ext cx="8607303" cy="4639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The frequency deviation is taking more attention since many electrical systems work at its frequency boundary. 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In the small isolated systems such as island systems the frequency stability becomes more a considerable issue.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Especially</a:t>
            </a:r>
            <a:r>
              <a:rPr lang="en-US" dirty="0">
                <a:latin typeface="Times New Roman"/>
                <a:ea typeface="ＭＳ 明朝"/>
                <a:cs typeface="Times New Roman"/>
              </a:rPr>
              <a:t>, 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when the renewable resources are taking a large share of the generation in these systems.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The mitigation facilities sometimes are not affordable or have an economic impacts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There is a need for updating the policy to accommodate the modern structure of electrical systems.</a:t>
            </a: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US" dirty="0">
                <a:latin typeface="Times New Roman"/>
                <a:ea typeface="ＭＳ 明朝"/>
                <a:cs typeface="Times New Roman"/>
              </a:rPr>
              <a:t>A</a:t>
            </a:r>
            <a:r>
              <a:rPr lang="en-US" dirty="0">
                <a:effectLst/>
                <a:latin typeface="Times New Roman"/>
                <a:ea typeface="ＭＳ 明朝"/>
                <a:cs typeface="Times New Roman"/>
              </a:rPr>
              <a:t>dvancement in frequency stability studies should take place and continue to develop affordable solutions to improve the frequency stability.</a:t>
            </a: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856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4300" y="228600"/>
            <a:ext cx="2295336" cy="533400"/>
            <a:chOff x="628" y="2996502"/>
            <a:chExt cx="2734938" cy="1367469"/>
          </a:xfrm>
          <a:scene3d>
            <a:camera prst="orthographicFront"/>
            <a:lightRig rig="chilly" dir="t"/>
          </a:scene3d>
        </p:grpSpPr>
        <p:sp>
          <p:nvSpPr>
            <p:cNvPr id="6" name="Rectangle 5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sp3d prstMaterial="translucentPowder">
              <a:bevelT w="127000" h="25400" prst="softRound"/>
            </a:sp3d>
          </p:spPr>
          <p:style>
            <a:lnRef idx="0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628" y="2996502"/>
              <a:ext cx="2734938" cy="136746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2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>
                  <a:latin typeface="Times New Roman" charset="0"/>
                  <a:ea typeface="Times New Roman" charset="0"/>
                  <a:cs typeface="Times New Roman" charset="0"/>
                </a:rPr>
                <a:t>References</a:t>
              </a:r>
              <a:endParaRPr lang="en-US" b="1" i="0" kern="12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114300" y="1054172"/>
            <a:ext cx="8607303" cy="52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000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4300" y="788228"/>
            <a:ext cx="8855841" cy="5693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[1]	Y. Chen, Zhao </a:t>
            </a:r>
            <a:r>
              <a:rPr lang="en-US" sz="1400" dirty="0" err="1"/>
              <a:t>Xu</a:t>
            </a:r>
            <a:r>
              <a:rPr lang="en-US" sz="1400" dirty="0"/>
              <a:t>, and J. </a:t>
            </a:r>
            <a:r>
              <a:rPr lang="en-US" sz="1400" dirty="0" err="1"/>
              <a:t>Østergaard</a:t>
            </a:r>
            <a:r>
              <a:rPr lang="en-US" sz="1400" dirty="0"/>
              <a:t>, “Frequency analysis for planned islanding operation in the Danish</a:t>
            </a:r>
          </a:p>
          <a:p>
            <a:r>
              <a:rPr lang="en-US" sz="1400" dirty="0"/>
              <a:t>           distribution system-Bornholm,” </a:t>
            </a:r>
            <a:r>
              <a:rPr lang="en-US" sz="1400" i="1" dirty="0"/>
              <a:t>Univ. Power Eng. …</a:t>
            </a:r>
            <a:r>
              <a:rPr lang="en-US" sz="1400" dirty="0"/>
              <a:t>, pp. 9–13, 2008.</a:t>
            </a:r>
          </a:p>
          <a:p>
            <a:r>
              <a:rPr lang="en-US" sz="1400" dirty="0"/>
              <a:t>[2]	A. J. </a:t>
            </a:r>
            <a:r>
              <a:rPr lang="en-US" sz="1400" dirty="0" err="1"/>
              <a:t>Conejo</a:t>
            </a:r>
            <a:r>
              <a:rPr lang="en-US" sz="1400" dirty="0"/>
              <a:t>, J. M. Morales, J. A. </a:t>
            </a:r>
            <a:r>
              <a:rPr lang="en-US" sz="1400" dirty="0" err="1"/>
              <a:t>Martínez</a:t>
            </a:r>
            <a:r>
              <a:rPr lang="en-US" sz="1400" dirty="0"/>
              <a:t>, and A. Motivation, “Tools for the Analysis and Design of Distributed</a:t>
            </a:r>
          </a:p>
          <a:p>
            <a:r>
              <a:rPr lang="en-US" sz="1400" dirty="0"/>
              <a:t>          Resources — Part III : Market Studies,” vol. 26, no. 3, pp. 1663–1670, 2011.</a:t>
            </a:r>
          </a:p>
          <a:p>
            <a:r>
              <a:rPr lang="en-US" sz="1400" dirty="0"/>
              <a:t>[3]	E. Reliability and P. I. Plan, “Lessons Learned : Planning and Operating Power Systems with Large Amounts of      </a:t>
            </a:r>
          </a:p>
          <a:p>
            <a:r>
              <a:rPr lang="en-US" sz="1400" dirty="0"/>
              <a:t>          Renewable Energy-Based Power Generation,” no. August, 2012.</a:t>
            </a:r>
          </a:p>
          <a:p>
            <a:r>
              <a:rPr lang="en-US" sz="1400" dirty="0"/>
              <a:t>[4]	Z. </a:t>
            </a:r>
            <a:r>
              <a:rPr lang="en-US" sz="1400" dirty="0" err="1"/>
              <a:t>Hussain</a:t>
            </a:r>
            <a:r>
              <a:rPr lang="en-US" sz="1400" dirty="0"/>
              <a:t>, Z. Chen, and P. </a:t>
            </a:r>
            <a:r>
              <a:rPr lang="en-US" sz="1400" dirty="0" err="1"/>
              <a:t>Thøgersen</a:t>
            </a:r>
            <a:r>
              <a:rPr lang="en-US" sz="1400" dirty="0"/>
              <a:t>, “Challenges of Danish Power System and their possible solutions,” </a:t>
            </a:r>
            <a:r>
              <a:rPr lang="en-US" sz="1400" i="1" dirty="0"/>
              <a:t>proc.</a:t>
            </a:r>
          </a:p>
          <a:p>
            <a:r>
              <a:rPr lang="en-US" sz="1400" i="1" dirty="0"/>
              <a:t>           IEEE Conf. POWERCON</a:t>
            </a:r>
            <a:r>
              <a:rPr lang="en-US" sz="1400" dirty="0"/>
              <a:t>, 2012.</a:t>
            </a:r>
          </a:p>
          <a:p>
            <a:r>
              <a:rPr lang="en-US" sz="1400" dirty="0"/>
              <a:t>[5]	“HELCO Facts.” [Online]. Available: http://</a:t>
            </a:r>
            <a:r>
              <a:rPr lang="en-US" sz="1400" dirty="0" err="1"/>
              <a:t>www.hawaiielectriclight.com</a:t>
            </a:r>
            <a:r>
              <a:rPr lang="en-US" sz="1400" dirty="0"/>
              <a:t>/</a:t>
            </a:r>
            <a:r>
              <a:rPr lang="en-US" sz="1400" dirty="0" err="1"/>
              <a:t>helco</a:t>
            </a:r>
            <a:r>
              <a:rPr lang="en-US" sz="1400" dirty="0"/>
              <a:t>/About-Us/Company-Facts.</a:t>
            </a:r>
          </a:p>
          <a:p>
            <a:r>
              <a:rPr lang="en-US" sz="1400" dirty="0"/>
              <a:t>[6]	L. C. </a:t>
            </a:r>
            <a:r>
              <a:rPr lang="en-US" sz="1400" dirty="0" err="1"/>
              <a:t>Dangelmaier</a:t>
            </a:r>
            <a:r>
              <a:rPr lang="en-US" sz="1400" dirty="0"/>
              <a:t>, “System frequency performance of the Hawaii Electric Light System,” </a:t>
            </a:r>
            <a:r>
              <a:rPr lang="en-US" sz="1400" i="1" dirty="0"/>
              <a:t>2011 IEEE Power Energy</a:t>
            </a:r>
          </a:p>
          <a:p>
            <a:r>
              <a:rPr lang="en-US" sz="1400" i="1" dirty="0"/>
              <a:t>            Soc. Gen. Meet.</a:t>
            </a:r>
            <a:r>
              <a:rPr lang="en-US" sz="1400" dirty="0"/>
              <a:t>, pp. 1–8, Jul.2011.</a:t>
            </a:r>
          </a:p>
          <a:p>
            <a:r>
              <a:rPr lang="en-US" sz="1400" dirty="0"/>
              <a:t>[7]	E. </a:t>
            </a:r>
            <a:r>
              <a:rPr lang="en-US" sz="1400" dirty="0" err="1"/>
              <a:t>Ciapessoni</a:t>
            </a:r>
            <a:r>
              <a:rPr lang="en-US" sz="1400" dirty="0"/>
              <a:t> and D. </a:t>
            </a:r>
            <a:r>
              <a:rPr lang="en-US" sz="1400" dirty="0" err="1"/>
              <a:t>Cirio</a:t>
            </a:r>
            <a:r>
              <a:rPr lang="en-US" sz="1400" dirty="0"/>
              <a:t>, “Renewable power integration in Sicily: Frequency stability issues and possible </a:t>
            </a:r>
          </a:p>
          <a:p>
            <a:r>
              <a:rPr lang="en-US" sz="1400" dirty="0"/>
              <a:t>             countermeasures,” in </a:t>
            </a:r>
            <a:r>
              <a:rPr lang="en-US" sz="1400" i="1" dirty="0"/>
              <a:t>IREP Symposium-Bulk Power System Dynamics and Control</a:t>
            </a:r>
            <a:r>
              <a:rPr lang="en-US" sz="1400" dirty="0"/>
              <a:t>, 2013.</a:t>
            </a:r>
          </a:p>
          <a:p>
            <a:r>
              <a:rPr lang="en-US" sz="1400" dirty="0"/>
              <a:t>[8]	N. W. Miller, “California ISO Frequency Response Study,” no. November, 2011.</a:t>
            </a:r>
          </a:p>
          <a:p>
            <a:r>
              <a:rPr lang="en-US" sz="1400" dirty="0"/>
              <a:t>[9]	ECOFYS, “Impact of Large-scale Distributed Generation on Network Stability,” 2011.</a:t>
            </a:r>
          </a:p>
          <a:p>
            <a:r>
              <a:rPr lang="en-US" sz="1400" dirty="0"/>
              <a:t>[10]	B. P. Fairley, “Norway Wants to Be Europe ’ s Battery A new HVDC line will let Europe store more wind energy in </a:t>
            </a:r>
          </a:p>
          <a:p>
            <a:r>
              <a:rPr lang="en-US" sz="1400" dirty="0"/>
              <a:t>            Norway ’ s hydropower system,” pp. 4–5, 2014.</a:t>
            </a:r>
          </a:p>
          <a:p>
            <a:r>
              <a:rPr lang="en-US" sz="1400" dirty="0"/>
              <a:t>[11]	IEC, “Grid integration of large-capacity Renewable Energy sources and use of large-capacity Electrical Energy </a:t>
            </a:r>
          </a:p>
          <a:p>
            <a:r>
              <a:rPr lang="en-US" sz="1400" dirty="0"/>
              <a:t>            Storage,” 2012.</a:t>
            </a:r>
          </a:p>
          <a:p>
            <a:r>
              <a:rPr lang="en-US" sz="1400" dirty="0"/>
              <a:t>[12]	M. Matsuura, “Island Breezes,” </a:t>
            </a:r>
            <a:r>
              <a:rPr lang="en-US" sz="1400" i="1" dirty="0"/>
              <a:t>IEEE Power Energy Mag.</a:t>
            </a:r>
            <a:r>
              <a:rPr lang="en-US" sz="1400" dirty="0"/>
              <a:t>, no. December, pp. 59–64, 2009.</a:t>
            </a:r>
          </a:p>
          <a:p>
            <a:r>
              <a:rPr lang="en-US" sz="1400" dirty="0"/>
              <a:t>[13]	J. Horne, D. Flynn, and T. Littler, “Frequency stability issues for islanded power systems,” </a:t>
            </a:r>
            <a:r>
              <a:rPr lang="en-US" sz="1400" i="1" dirty="0"/>
              <a:t>IEEE PES Power Syst. </a:t>
            </a:r>
          </a:p>
          <a:p>
            <a:r>
              <a:rPr lang="en-US" sz="1400" i="1" dirty="0"/>
              <a:t>             Conf. Expo. 2004.</a:t>
            </a:r>
            <a:r>
              <a:rPr lang="en-US" sz="1400" dirty="0"/>
              <a:t>, pp. 188–195.</a:t>
            </a:r>
          </a:p>
          <a:p>
            <a:r>
              <a:rPr lang="en-US" sz="1400" dirty="0"/>
              <a:t>[14]	“Hawaiian Electric exec receives patent on device to stabilize wind energy,” 2004. [Online]. Available:</a:t>
            </a:r>
          </a:p>
          <a:p>
            <a:r>
              <a:rPr lang="en-US" sz="1400" dirty="0"/>
              <a:t>           http:// </a:t>
            </a:r>
            <a:r>
              <a:rPr lang="en-US" sz="1400" dirty="0" err="1"/>
              <a:t>www.elp.com</a:t>
            </a:r>
            <a:r>
              <a:rPr lang="en-US" sz="1400" dirty="0"/>
              <a:t>/articles/2004/07/hawaiian-electric-exec-receives-patent-on-device-to-stabilize-wind-</a:t>
            </a:r>
          </a:p>
          <a:p>
            <a:r>
              <a:rPr lang="en-US" sz="1400" dirty="0"/>
              <a:t>           energy-on-small-or-remote-grids.html. </a:t>
            </a:r>
          </a:p>
        </p:txBody>
      </p:sp>
    </p:spTree>
    <p:extLst>
      <p:ext uri="{BB962C8B-B14F-4D97-AF65-F5344CB8AC3E}">
        <p14:creationId xmlns:p14="http://schemas.microsoft.com/office/powerpoint/2010/main" val="4096571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300" y="1054172"/>
            <a:ext cx="860730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Cambria"/>
                <a:ea typeface="ＭＳ 明朝"/>
                <a:cs typeface="Times New Roman"/>
              </a:rPr>
              <a:t>Thank you for listening </a:t>
            </a:r>
            <a:endParaRPr lang="en-US" sz="2400" b="1" dirty="0">
              <a:effectLst/>
              <a:latin typeface="Cambria"/>
              <a:ea typeface="ＭＳ 明朝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6700" y="3363239"/>
            <a:ext cx="860730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Cambria"/>
                <a:ea typeface="ＭＳ 明朝"/>
                <a:cs typeface="Times New Roman"/>
              </a:rPr>
              <a:t>Any Question ?</a:t>
            </a:r>
            <a:endParaRPr lang="en-US" sz="2400" b="1" dirty="0">
              <a:effectLst/>
              <a:latin typeface="Cambria"/>
              <a:ea typeface="ＭＳ 明朝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657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1525</Words>
  <Application>Microsoft Office PowerPoint</Application>
  <PresentationFormat>On-screen Show (4:3)</PresentationFormat>
  <Paragraphs>243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ＭＳ 明朝</vt:lpstr>
      <vt:lpstr>Arial</vt:lpstr>
      <vt:lpstr>Calibri</vt:lpstr>
      <vt:lpstr>Cambria</vt:lpstr>
      <vt:lpstr>Times New Roman</vt:lpstr>
      <vt:lpstr>Wingdings</vt:lpstr>
      <vt:lpstr>Office Theme</vt:lpstr>
      <vt:lpstr>      Study the Effects of Renewable Resources on Electric Grid Frequency  Mohamed Abuella  ECGR8090 POWER QUALTY   Fall 2014    University of North Carolina at Charlotte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The Affects Of Renewable Resources On Electric Grid Frequency  Mohamed Abuella  ECGR8090 POWER QUALTY   Fall 2014    University of North Carolina at Charlotte</dc:title>
  <dc:creator>Mohamed Abuella</dc:creator>
  <cp:lastModifiedBy>Mohamed Abuella</cp:lastModifiedBy>
  <cp:revision>106</cp:revision>
  <dcterms:created xsi:type="dcterms:W3CDTF">2014-11-26T11:07:29Z</dcterms:created>
  <dcterms:modified xsi:type="dcterms:W3CDTF">2018-06-24T01:25:57Z</dcterms:modified>
</cp:coreProperties>
</file>